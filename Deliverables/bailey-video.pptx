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C1917"/>
                </a:solidFill>
                <a:latin typeface="Calibri"/>
              </a:rPr>
              <a:t>OpenAiMul.c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 b="0">
                <a:solidFill>
                  <a:srgbClr val="1C1917"/>
                </a:solidFill>
                <a:latin typeface="Calibri"/>
              </a:rPr>
              <a:t>Bailey Tucker  24744334</a:t>
            </a:r>
          </a:p>
          <a:p>
            <a:pPr>
              <a:spcAft>
                <a:spcPts val="1400"/>
              </a:spcAft>
            </a:pPr>
            <a:r>
              <a:rPr sz="2800" b="0">
                <a:solidFill>
                  <a:srgbClr val="1C1917"/>
                </a:solidFill>
                <a:latin typeface="Calibri"/>
              </a:rPr>
              <a:t>Two n-limb integers in.  2n-limb product out.</a:t>
            </a:r>
          </a:p>
          <a:p>
            <a:pPr>
              <a:spcAft>
                <a:spcPts val="1400"/>
              </a:spcAft>
            </a:pPr>
            <a:r>
              <a:rPr sz="2800" b="0">
                <a:solidFill>
                  <a:srgbClr val="1C1917"/>
                </a:solidFill>
                <a:latin typeface="Calibri"/>
              </a:rPr>
              <a:t>Same contract as GMP mpn_mul_n.</a:t>
            </a:r>
          </a:p>
          <a:p>
            <a:pPr>
              <a:spcAft>
                <a:spcPts val="1400"/>
              </a:spcAft>
            </a:pPr>
            <a:r>
              <a:rPr sz="2800" b="0">
                <a:solidFill>
                  <a:srgbClr val="1C1917"/>
                </a:solidFill>
                <a:latin typeface="Calibri"/>
              </a:rPr>
              <a:t>About 4 minutes.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C1917"/>
                </a:solidFill>
                <a:latin typeface="Calibri"/>
              </a:rPr>
              <a:t>The paper, and this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 b="0">
                <a:solidFill>
                  <a:srgbClr val="1C1917"/>
                </a:solidFill>
                <a:latin typeface="Calibri"/>
              </a:rPr>
              <a:t>Preprint: 23 September 2026.</a:t>
            </a:r>
          </a:p>
          <a:p>
            <a:pPr>
              <a:spcAft>
                <a:spcPts val="1400"/>
              </a:spcAft>
            </a:pPr>
            <a:r>
              <a:rPr sz="2600" b="0">
                <a:solidFill>
                  <a:srgbClr val="1C1917"/>
                </a:solidFill>
                <a:latin typeface="Calibri"/>
              </a:rPr>
              <a:t>Tape bound: kappa = 2^(-182).</a:t>
            </a:r>
          </a:p>
          <a:p>
            <a:pPr>
              <a:spcAft>
                <a:spcPts val="1400"/>
              </a:spcAft>
            </a:pPr>
            <a:r>
              <a:rPr sz="2600" b="0">
                <a:solidFill>
                  <a:srgbClr val="1C1917"/>
                </a:solidFill>
                <a:latin typeface="Calibri"/>
              </a:rPr>
              <a:t>That machine uses schoolbook past a cutoff we cannot store.</a:t>
            </a:r>
          </a:p>
          <a:p>
            <a:pPr>
              <a:spcAft>
                <a:spcPts val="1400"/>
              </a:spcAft>
            </a:pPr>
            <a:r>
              <a:rPr sz="2600" b="0">
                <a:solidFill>
                  <a:srgbClr val="1C1917"/>
                </a:solidFill>
                <a:latin typeface="Calibri"/>
              </a:rPr>
              <a:t>log2(n) would have to pass 2^(2^75).</a:t>
            </a:r>
          </a:p>
          <a:p>
            <a:pPr>
              <a:spcAft>
                <a:spcPts val="1400"/>
              </a:spcAft>
            </a:pPr>
            <a:r>
              <a:rPr sz="2600" b="0">
                <a:solidFill>
                  <a:srgbClr val="1C1917"/>
                </a:solidFill>
                <a:latin typeface="Calibri"/>
              </a:rPr>
              <a:t>The timed function is a 16-bit digit convolution.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C1917"/>
                </a:solidFill>
                <a:latin typeface="Calibri"/>
              </a:rPr>
              <a:t>One limb, four digits</a:t>
            </a:r>
          </a:p>
        </p:txBody>
      </p:sp>
      <p:pic>
        <p:nvPicPr>
          <p:cNvPr id="3" name="Picture 2" descr="li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60120"/>
            <a:ext cx="10881360" cy="32644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2636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7534E"/>
                </a:solidFill>
                <a:latin typeface="Calibri"/>
              </a:rPr>
              <a:t>Low digit is bits 0 to 15. Carry later moves in base 2^16.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C1917"/>
                </a:solidFill>
                <a:latin typeface="Calibri"/>
              </a:rPr>
              <a:t>What one call does</a:t>
            </a:r>
          </a:p>
        </p:txBody>
      </p:sp>
      <p:pic>
        <p:nvPicPr>
          <p:cNvPr id="3" name="Picture 2" descr="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60120"/>
            <a:ext cx="10881360" cy="28314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2636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7534E"/>
                </a:solidFill>
                <a:latin typeface="Calibri"/>
              </a:rPr>
              <a:t>Length of the transform is at least twice the digit count.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C1917"/>
                </a:solidFill>
                <a:latin typeface="Calibri"/>
              </a:rPr>
              <a:t>A product you can check by hand</a:t>
            </a:r>
          </a:p>
        </p:txBody>
      </p:sp>
      <p:pic>
        <p:nvPicPr>
          <p:cNvPr id="3" name="Picture 2" descr="con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60120"/>
            <a:ext cx="10881360" cy="59659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2636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7534E"/>
                </a:solidFill>
                <a:latin typeface="Calibri"/>
              </a:rPr>
              <a:t>21 + 68 x 2^16 + 55 x 2^32. No carry in this example.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C1917"/>
                </a:solidFill>
                <a:latin typeface="Calibri"/>
              </a:rPr>
              <a:t>Length 2 writes a different integer</a:t>
            </a:r>
          </a:p>
        </p:txBody>
      </p:sp>
      <p:pic>
        <p:nvPicPr>
          <p:cNvPr id="3" name="Picture 2" descr="br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60120"/>
            <a:ext cx="10881360" cy="3706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2636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7534E"/>
                </a:solidFill>
                <a:latin typeface="Calibri"/>
              </a:rPr>
              <a:t>76 is 21 + 55. The carry cannot move the 55 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C1917"/>
                </a:solidFill>
                <a:latin typeface="Calibri"/>
              </a:rPr>
              <a:t>The invariant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 b="0">
                <a:solidFill>
                  <a:srgbClr val="1C1917"/>
                </a:solidFill>
                <a:latin typeface="Calibri"/>
              </a:rPr>
              <a:t>After the inverse transform, bucket k holds the digit products for shift k.</a:t>
            </a:r>
          </a:p>
          <a:p>
            <a:pPr>
              <a:spcAft>
                <a:spcPts val="1400"/>
              </a:spcAft>
            </a:pPr>
            <a:r>
              <a:rPr sz="2600" b="0">
                <a:solidFill>
                  <a:srgbClr val="1C1917"/>
                </a:solidFill>
                <a:latin typeface="Calibri"/>
              </a:rPr>
              <a:t>Nothing from a higher shift has wrapped in.</a:t>
            </a:r>
          </a:p>
          <a:p>
            <a:pPr>
              <a:spcAft>
                <a:spcPts val="1400"/>
              </a:spcAft>
            </a:pPr>
            <a:r>
              <a:rPr sz="2600" b="0">
                <a:solidFill>
                  <a:srgbClr val="1C1917"/>
                </a:solidFill>
                <a:latin typeface="Calibri"/>
              </a:rPr>
              <a:t>The sum is smaller than the modulus, so it has not wrapped modulo P.</a:t>
            </a:r>
          </a:p>
          <a:p>
            <a:pPr>
              <a:spcAft>
                <a:spcPts val="1400"/>
              </a:spcAft>
            </a:pPr>
            <a:r>
              <a:rPr sz="2600" b="0">
                <a:solidFill>
                  <a:srgbClr val="1C1917"/>
                </a:solidFill>
                <a:latin typeface="Calibri"/>
              </a:rPr>
              <a:t>The inverse step also divides by the length.</a:t>
            </a:r>
          </a:p>
          <a:p>
            <a:pPr>
              <a:spcAft>
                <a:spcPts val="1400"/>
              </a:spcAft>
            </a:pPr>
            <a:r>
              <a:rPr sz="2600" b="0">
                <a:solidFill>
                  <a:srgbClr val="1C1917"/>
                </a:solidFill>
                <a:latin typeface="Calibri"/>
              </a:rPr>
              <a:t>Without that scale, every coefficient is too big by the length.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C1917"/>
                </a:solidFill>
                <a:latin typeface="Calibri"/>
              </a:rPr>
              <a:t>Harness times, through 16,384 limbs</a:t>
            </a:r>
          </a:p>
        </p:txBody>
      </p:sp>
      <p:pic>
        <p:nvPicPr>
          <p:cNvPr id="3" name="Picture 2" descr="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60120"/>
            <a:ext cx="10881360" cy="61146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2636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7534E"/>
                </a:solidFill>
                <a:latin typeface="Calibri"/>
              </a:rPr>
              <a:t>Same run, after Karatsuba was merged. Dashed lines mark 4,096 and 8,192 limbs.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C1917"/>
                </a:solidFill>
                <a:latin typeface="Calibri"/>
              </a:rPr>
              <a:t>Where mine is faster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1C1917"/>
                </a:solidFill>
                <a:latin typeface="Calibri"/>
              </a:rPr>
              <a:t>GMP is fastest on every row. At 16,384 limbs it is about 17 times faster than mine.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C1917"/>
                </a:solidFill>
                <a:latin typeface="Calibri"/>
              </a:rPr>
              <a:t>Karatsuba is faster than mine at every size in this table.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C1917"/>
                </a:solidFill>
                <a:latin typeface="Calibri"/>
              </a:rPr>
              <a:t>I pass schoolbook at 4,096 limbs: 9.6 ms against 14.9 ms.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C1917"/>
                </a:solidFill>
                <a:latin typeface="Calibri"/>
              </a:rPr>
              <a:t>I am still behind schoolbook at 2,048 limbs: 4.3 ms against 3.6 ms.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C1917"/>
                </a:solidFill>
                <a:latin typeface="Calibri"/>
              </a:rPr>
              <a:t>I am still behind the FFT at 8,192 limbs: 20.1 ms against 11.4 ms.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C1917"/>
                </a:solidFill>
                <a:latin typeface="Calibri"/>
              </a:rPr>
              <a:t>At 16,384 limbs I edge the FFT: 44.1 ms against 47.5 ms. Karatsuba is 18.4 ms. GMP is 2.6 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C1917"/>
                </a:solidFill>
                <a:latin typeface="Calibri"/>
              </a:rPr>
              <a:t>Why the FFT falls behind, and what is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C1917"/>
                </a:solidFill>
                <a:latin typeface="Calibri"/>
              </a:rPr>
              <a:t>Above 2,048 limbs the FFT uses 8-bit digits, so its transform is longer.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C1917"/>
                </a:solidFill>
                <a:latin typeface="Calibri"/>
              </a:rPr>
              <a:t>Mine stays on 16-bit digits. On this run I only edge it at 16,384 limbs.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C1917"/>
                </a:solidFill>
                <a:latin typeface="Calibri"/>
              </a:rPr>
              <a:t>Karatsuba is faster than both of those at that size.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C1917"/>
                </a:solidFill>
                <a:latin typeface="Calibri"/>
              </a:rPr>
              <a:t>Next: build the twiddle powers in setup, outside the timer.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C1917"/>
                </a:solidFill>
                <a:latin typeface="Calibri"/>
              </a:rPr>
              <a:t>A larger n on this file will not catch GMP.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