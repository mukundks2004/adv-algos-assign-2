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>
                <a:solidFill>
                  <a:srgbClr val="141414"/>
                </a:solidFill>
                <a:latin typeface="Calibri"/>
              </a:rPr>
              <a:t>Integer multiplication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141414"/>
                </a:solidFill>
                <a:latin typeface="Calibri"/>
              </a:rPr>
              <a:t>41052 Programming Assignment 2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41414"/>
                </a:solidFill>
                <a:latin typeface="Calibri"/>
              </a:rPr>
              <a:t>Bailey Tucker, Jack McCowan, Mukund Srinivasan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41414"/>
                </a:solidFill>
                <a:latin typeface="Calibri"/>
              </a:rPr>
              <a:t>Hard cap: 15 minutes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>
                <a:solidFill>
                  <a:srgbClr val="141414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141414"/>
                </a:solidFill>
                <a:latin typeface="Calibri"/>
              </a:rPr>
              <a:t>Two n-limb integers, 64 bits per limb, little endian.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41414"/>
                </a:solidFill>
                <a:latin typeface="Calibri"/>
              </a:rPr>
              <a:t>Product is 2n limbs. Same contract as GMP mpn_mul_n.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41414"/>
                </a:solidFill>
                <a:latin typeface="Calibri"/>
              </a:rPr>
              <a:t>Question: where does the simple code win?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>
                <a:solidFill>
                  <a:srgbClr val="141414"/>
                </a:solidFill>
                <a:latin typeface="Calibri"/>
              </a:rPr>
              <a:t>What we compare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141414"/>
                </a:solidFill>
                <a:latin typeface="Calibri"/>
              </a:rPr>
              <a:t>Schoolbook: Mukund. Theta(n^2).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41414"/>
                </a:solidFill>
                <a:latin typeface="Calibri"/>
              </a:rPr>
              <a:t>Karatsuba: Jack. About n^1.585.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41414"/>
                </a:solidFill>
                <a:latin typeface="Calibri"/>
              </a:rPr>
              <a:t>FFT: Mukund. Digits, then a complex FFT.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41414"/>
                </a:solidFill>
                <a:latin typeface="Calibri"/>
              </a:rPr>
              <a:t>OpenAI file: Bailey. 16-bit digit convolution.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41414"/>
                </a:solidFill>
                <a:latin typeface="Calibri"/>
              </a:rPr>
              <a:t>GMP: library baseline, not one of our algorithms.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>
                <a:solidFill>
                  <a:srgbClr val="141414"/>
                </a:solidFill>
                <a:latin typeface="Calibri"/>
              </a:rPr>
              <a:t>Schoolbook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141414"/>
                </a:solidFill>
                <a:latin typeface="Calibri"/>
              </a:rPr>
              <a:t>Limb i of a meets every limb of b at index i+j.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41414"/>
                </a:solidFill>
                <a:latin typeface="Calibri"/>
              </a:rPr>
              <a:t>The high half of the 128-bit product is the carry.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41414"/>
                </a:solidFill>
                <a:latin typeface="Calibri"/>
              </a:rPr>
              <a:t>Drop the carry and the next limb is short.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41414"/>
                </a:solidFill>
                <a:latin typeface="Calibri"/>
              </a:rPr>
              <a:t>No extra buffer. Fast only while n is small.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>
                <a:solidFill>
                  <a:srgbClr val="141414"/>
                </a:solidFill>
                <a:latin typeface="Calibri"/>
              </a:rPr>
              <a:t>Karatsuba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141414"/>
                </a:solidFill>
                <a:latin typeface="Calibri"/>
              </a:rPr>
              <a:t>Three half-size products, not four.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41414"/>
                </a:solidFill>
                <a:latin typeface="Calibri"/>
              </a:rPr>
              <a:t>Middle term uses a difference, not a sum.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41414"/>
                </a:solidFill>
                <a:latin typeface="Calibri"/>
              </a:rPr>
              <a:t>A sum can grow an extra limb and the recursion stalls at n = 2 or 3.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41414"/>
                </a:solidFill>
                <a:latin typeface="Calibri"/>
              </a:rPr>
              <a:t>Wrong sign still looks like a normal number.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41414"/>
                </a:solidFill>
                <a:latin typeface="Calibri"/>
              </a:rPr>
              <a:t>Base case: schoolbook at 16 limbs.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>
                <a:solidFill>
                  <a:srgbClr val="141414"/>
                </a:solidFill>
                <a:latin typeface="Calibri"/>
              </a:rPr>
              <a:t>Karatsuba, what we measured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141414"/>
                </a:solidFill>
                <a:latin typeface="Calibri"/>
              </a:rPr>
              <a:t>Jack's machine: i9, GMP 6.2.1.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41414"/>
                </a:solidFill>
                <a:latin typeface="Calibri"/>
              </a:rPr>
              <a:t>Beats schoolbook from about 18 limbs.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41414"/>
                </a:solidFill>
                <a:latin typeface="Calibri"/>
              </a:rPr>
              <a:t>Cutoff 14 to 28 is within 3 percent of the best.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41414"/>
                </a:solidFill>
                <a:latin typeface="Calibri"/>
              </a:rPr>
              <a:t>No sawtooth at the recursion boundaries.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41414"/>
                </a:solidFill>
                <a:latin typeface="Calibri"/>
              </a:rPr>
              <a:t>FFT does not clearly pass it until about 100,000 limbs.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>
                <a:solidFill>
                  <a:srgbClr val="141414"/>
                </a:solidFill>
                <a:latin typeface="Calibri"/>
              </a:rPr>
              <a:t>FFT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141414"/>
                </a:solidFill>
                <a:latin typeface="Calibri"/>
              </a:rPr>
              <a:t>16-bit digits. 8-bit digits after 2048 limbs.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41414"/>
                </a:solidFill>
                <a:latin typeface="Calibri"/>
              </a:rPr>
              <a:t>Pad the transform to a power of two.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41414"/>
                </a:solidFill>
                <a:latin typeface="Calibri"/>
              </a:rPr>
              <a:t>Round to the nearest integer, then carry.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41414"/>
                </a:solidFill>
                <a:latin typeface="Calibri"/>
              </a:rPr>
              <a:t>If the rounding is off by one, the product is wrong.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>
                <a:solidFill>
                  <a:srgbClr val="141414"/>
                </a:solidFill>
                <a:latin typeface="Calibri"/>
              </a:rPr>
              <a:t>OpenAI file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141414"/>
                </a:solidFill>
                <a:latin typeface="Calibri"/>
              </a:rPr>
              <a:t>The preprint's fast machine uses schoolbook below a huge cutoff.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41414"/>
                </a:solidFill>
                <a:latin typeface="Calibri"/>
              </a:rPr>
              <a:t>We do not run that machine.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41414"/>
                </a:solidFill>
                <a:latin typeface="Calibri"/>
              </a:rPr>
              <a:t>This file: four 16-bit digits per limb.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41414"/>
                </a:solidFill>
                <a:latin typeface="Calibri"/>
              </a:rPr>
              <a:t>Convolve mod 2^64 - 2^32 + 1, then carry.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>
                <a:solidFill>
                  <a:srgbClr val="141414"/>
                </a:solidFill>
                <a:latin typeface="Calibri"/>
              </a:rPr>
              <a:t>What breaks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141414"/>
                </a:solidFill>
                <a:latin typeface="Calibri"/>
              </a:rPr>
              <a:t>Digits 3, 5 times 7, 11.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41414"/>
                </a:solidFill>
                <a:latin typeface="Calibri"/>
              </a:rPr>
              <a:t>Places should be 21, 68, 55.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41414"/>
                </a:solidFill>
                <a:latin typeface="Calibri"/>
              </a:rPr>
              <a:t>Length 2 adds 55 onto 21 and gives 76.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41414"/>
                </a:solidFill>
                <a:latin typeface="Calibri"/>
              </a:rPr>
              <a:t>Length must be at least twice the digit count.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41414"/>
                </a:solidFill>
                <a:latin typeface="Calibri"/>
              </a:rPr>
              <a:t>The inverse transform must divide by that length.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>
                <a:solidFill>
                  <a:srgbClr val="141414"/>
                </a:solidFill>
                <a:latin typeface="Calibri"/>
              </a:rPr>
              <a:t>Bailey's harness, through 16,384 limbs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57607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141414"/>
                </a:solidFill>
                <a:latin typeface="Calibri"/>
              </a:rPr>
              <a:t>Ryzen 7 6800H, GMP 6.3.0.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41414"/>
                </a:solidFill>
                <a:latin typeface="Calibri"/>
              </a:rPr>
              <a:t>GMP is fastest on every row.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41414"/>
                </a:solidFill>
                <a:latin typeface="Calibri"/>
              </a:rPr>
              <a:t>OpenAI passes schoolbook at 4,096 limbs.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41414"/>
                </a:solidFill>
                <a:latin typeface="Calibri"/>
              </a:rPr>
              <a:t>OpenAI passes the FFT at 8,192 limbs.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41414"/>
                </a:solidFill>
                <a:latin typeface="Calibri"/>
              </a:rPr>
              <a:t>At 16,384: GMP 2.9 ms, OpenAI 43 ms, FFT 66 ms.</a:t>
            </a:r>
          </a:p>
        </p:txBody>
      </p:sp>
      <p:pic>
        <p:nvPicPr>
          <p:cNvPr id="4" name="Picture 3" descr="timing-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554480"/>
            <a:ext cx="5212080" cy="292385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>
                <a:solidFill>
                  <a:srgbClr val="141414"/>
                </a:solidFill>
                <a:latin typeface="Calibri"/>
              </a:rPr>
              <a:t>Two surprises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141414"/>
                </a:solidFill>
                <a:latin typeface="Calibri"/>
              </a:rPr>
              <a:t>Jack: the FFT did not pass Karatsuba until about 100,000 limbs.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41414"/>
                </a:solidFill>
                <a:latin typeface="Calibri"/>
              </a:rPr>
              <a:t>Bailey: schoolbook was still ahead of OpenAI at 2,048 limbs.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41414"/>
                </a:solidFill>
                <a:latin typeface="Calibri"/>
              </a:rPr>
              <a:t>Bailey: the FFT stays ahead only through 4,096 limbs.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41414"/>
                </a:solidFill>
                <a:latin typeface="Calibri"/>
              </a:rPr>
              <a:t>Neither of our files catches GMP.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>
                <a:solidFill>
                  <a:srgbClr val="141414"/>
                </a:solidFill>
                <a:latin typeface="Calibri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141414"/>
                </a:solidFill>
                <a:latin typeface="Calibri"/>
              </a:rPr>
              <a:t>Build OpenAI twiddles in setup, outside the timer.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41414"/>
                </a:solidFill>
                <a:latin typeface="Calibri"/>
              </a:rPr>
              <a:t>Put Karatsuba on the same harness rows.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41414"/>
                </a:solidFill>
                <a:latin typeface="Calibri"/>
              </a:rPr>
              <a:t>A larger n will not make this OpenAI file catch GMP.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