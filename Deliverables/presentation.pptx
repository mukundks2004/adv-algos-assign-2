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comparing ways to multiply big integers. The problem is two n-limb numbers, 64 bits per limb, little endian, and a 2n-limb product. That is the same contract as GMP's mpn_mul_n.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schoolbook, Karatsuba, and an FFT, and one more file for the OpenAI digit convolution. Schoolbook is Theta of n squared. Karatsuba is about n to the 1.585. The FFT and the OpenAI function are n log n, with different constants. The preprint claims a slightly better exponent, and that machine is not what we time. GMP is the tuned library, and the baseline we check against. We are comparing them because the asymptotically faster code has the larger constant, and the question is where the simple loop still 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Schoolbook is the double loop in SchoolbookMul.c. Limb i of a multiplies every limb of b, and the product is added at index i plus j. The high half of that 128-bit product is the carry into the next limb. The invariant is that after limb i is finished, result[i + n] holds the carry out of that row, and every lower limb already includes the partial products that belong there. That carry is the case this loop needs. There is no extra buffer. It is Theta(n squared), so it wins only while n is small.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drop the carry, the low digits can still look plausible and the next limb is short by that carry. One limb of all ones, squared, has low limb 1 and high limb 0xFFFFFFFFFFFFFFFE. Throw the carry away and the low limb is still 1. The high limb is 0. That is a different integer.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Karatsuba splits each number in half and replaces four half-size products with three. This part is the invariant, the case that forces the difference form, and what breaks if the sign test is flipped.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middle term is z0 plus z2 minus the product of the two differences. Each call makes three half-size calls, so the cost is about n to the 1.585. Below 16 limbs it calls the same schoolbook loop as the rest of the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invariant is that every recursive product is square and strictly smaller than n. lowSize is n minus n over 2, and highSize is n over 2. Both are below n once n is at least 2. That is why it terminates, down to the schoolbook base case at 16 limbs. The scratch is about 4n limbs, allocated once in setup, outside the timer.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version adds the halves instead. That sum can grow an extra limb, and for n = 2 or 3 the recursion never shrinks. Take 999, split as 9 and 99. The sum is 108, which is three digits. The absolute difference is 90, which still fits in h digits. The cost of the difference is a 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two differences have the same sign you subtract, otherwise you add. Getting that case wrong still prints a normal-looking number. A sign-flip check failed 34,757 of 51,055 products. Sizes at most 16 limbs still all pass, because they are pure schoolbook, so a small test never reaches the bug. On one real 17-limb product, 6 limbs were right, then 19 were wrong, then 9 were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my machine Karatsuba first beats schoolbook near 18 limbs, but only by a few percent until the gap opens up. The table shows schoolbook still ahead at 16 limbs and Karatsuba ahead at 24. A cutoff from 14 to 28 limbs is within about 3 percent of the best. Recursing all the way to one limb is about 4 to 6 times slower. From 256 limbs up, one extra limb at a recursion boundary moves the time by about 2 percent. The leaf work drops and the extra additions put it 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FFT treats the number as digits of a polynomial. The case that matters is the digit width. If a complex double rounds to the wrong integer, the carry builds the wrong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invariant is that after the inverse FFT, each bucket rounds to the exact integer coefficient of the digit convolution. We use 16-bit digits while n is at most 2048 limbs, because a double can still land on that integer. Above 2048 the coefficient would leave the exact range of a double, so the case we need is 8-bit digits. If the rounding is off by one, the carry builds a different product. The length is padded up to a power of two, which is also why the time can sit flat and then jump. Setup allocates the twiddles and the digit buffers, outside the timer.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padding is why the FFT time can sit flat across a band of sizes, and the 8-bit switch is why it jumps between 2048 and 3072 limbs on the i9 grid. At 2048 limbs the FFT took 832 microseconds. At 3072 it took 3,828. The size grew by half and the time grew by about 4.6 times.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file is OpenAiMul.c. The invariant, the case that forces it, and what breaks if it is dropped. The preprint is a multitape bound with kappa equal to 2 to the minus 182. That machine uses schoolbook below a cutoff past log n equals 2 to the 2 to the 75. We do not run that machine.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64-bit limb splits into four digits in base 2 to the 16, low digit first. The integer product is the linear convolution of those digits, then a carry back into limbs. I evaluate that convolution with a number-theoretic transform modulo 2 to the 64, minus 2 to the 32, plus 1. The length is the next power of two that is at least twice the digit count.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invariant is one sentence. After the inverse transform, bucket k holds the exact sum of the digit products for shift k. A higher shift has not wrapped into it, and the sum is below the modulus. The while loop forces that length. The inverse then multiplies by the modular inverse of the length. The length puts the product in the right bucket. The multiply by the inverse brings the coefficient back to the integer sum.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Digits 3 and 5, times 7 and 11. The places are 21, then 68, then 55. If the length is only 2, the 55 wraps onto the 21 and the low digit is 76. That is a different integer. Length 4 leaves 21, 68, and 55 in their own places. This example needs no carry, so the carry is not what repairs a wrap.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pad, the low digit is 76. Without the divide by the length, every coefficient is multiplied by the length. On this example that product is exactly four times the true value, and it is still a normal integer. Both failures are exact.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experiments, and a viewer has to keep them apart. One is a Ryzen 7 6800H with GMP 6.3.0. All five algorithms go through 16,384 limbs, and Karatsuba, the FFT, the OpenAI function, and GMP continue through 2,097,152. The other is an i9-13900H with GMP 6.2.1, out to 131,072 limbs. Every product was checked against mpn_mul_n before the clock started. Setup runs first. The timed region is only the multiply. Say the machine before the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my harness, GMP is fastest at every size through 2,097,152 limbs. At 16,384 I edge the FFT, 44.1 milliseconds against 47.5, and Karatsuba is still ahead at 18.4. At 131,072 I pass Karatsuba, 420 milliseconds against 505, and the FFT is still behind Karatsuba at 878. The FFT passes Karatsuba at 524,288 limbs, 4.08 seconds against 4.62. At 2,097,152 GMP takes 0.78 seconds, I take 8.24, the FFT takes 20.2, and Karatsuba takes 41.4. Above 2,048 limbs the FFT uses 8-bit digits, so its transform length is 16n. Mine stays 8n. That is about twice the arithmetic, and by 131,072 limbs the FFT takes about twice as long as mine. It does not catch me again. Each doubling, Karatsuba grows by about 3 and mine by about 2.1, which is why I pass Karatsuba and the longer FFT passes it later. GMP grows by about 2.1 as well, so the gap to GMP stays about 11 times. If you are short on time, keep the 8-bit sentence and the 2,097,152 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my machine the FFT does not clearly pass Karatsuba until around 100,000 limbs. At 32,768 limbs Karatsuba took 54.8 milliseconds and the FFT took 63.7. At 65,536 they are close, 163 against 172, and the repeats overlap. At 131,072 the FFT is slightly ahead, 481 against 501. GMP stays ahead the whole way. The FFT pays for padding, for the 8-bit digit switch, and for growing faster than n log n in our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is schoolbook. I expected my convolution to pass it by 1024 limbs, and it was still behind at 2048. The modular multiplies and the twiddles rebuilt on every call keep the constant that high. I also expected the FFT to stay ahead. It does through 8192, and at 16384 mine is slightly ahead. That lead holds, because above 2048 limbs the FFT's transform is twice as long. Passing Karatsuba at 131072 was the one I did not trust from the small rows, and the doubling factors put it there. The FFT passes Karatsuba later, at 524288, which is later than on the i9 grid. GMP looked like the same crossing on the early graph. Past 32768 limbs it grows about as fast as mine, so the 11 times gap at 2097152 stays a gap. The preprint's speed is not what this binary measures.</a:t>
            </a:r>
          </a:p>
          <a:p/>
          <a:p>
            <a:r>
              <a:t>On the i9 grid, the FFT was expected to pass Karatsuba inside the sizes we cared about. It was still behind at 32,768 limbs, and at 65,536 and 131,072 the repeats overlap.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for me is to build the twiddle powers in setup, outside the timer. That lowers the constant. It does not change the exponent. At 2,097,152 limbs GMP is still about 11 times faster, and the FFT, with twice the transform length, is about twice as slow as mine.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660"/>
        </a:solidFill>
        <a:effectLst/>
      </p:bgPr>
    </p:bg>
    <p:spTree>
      <p:nvGrpSpPr>
        <p:cNvPr id="1" name=""/>
        <p:cNvGrpSpPr/>
        <p:nvPr/>
      </p:nvGrpSpPr>
      <p:grpSpPr/>
      <p:sp>
        <p:nvSpPr>
          <p:cNvPr id="2" name="TextBox 1"/>
          <p:cNvSpPr txBox="1"/>
          <p:nvPr/>
        </p:nvSpPr>
        <p:spPr>
          <a:xfrm>
            <a:off x="685800" y="658368"/>
            <a:ext cx="10058400" cy="292608"/>
          </a:xfrm>
          <a:prstGeom prst="rect">
            <a:avLst/>
          </a:prstGeom>
          <a:noFill/>
        </p:spPr>
        <p:txBody>
          <a:bodyPr wrap="square" lIns="0" rIns="0" tIns="0" bIns="0"/>
          <a:lstStyle/>
          <a:p>
            <a:pPr algn="l">
              <a:spcBef>
                <a:spcPts val="0"/>
              </a:spcBef>
              <a:spcAft>
                <a:spcPts val="200"/>
              </a:spcAft>
            </a:pPr>
            <a:r>
              <a:rPr sz="1600" b="1">
                <a:solidFill>
                  <a:srgbClr val="D47523"/>
                </a:solidFill>
                <a:latin typeface="Calibri"/>
              </a:rPr>
              <a:t>41052  ·  PROGRAMMING ASSIGNMENT 2</a:t>
            </a:r>
          </a:p>
        </p:txBody>
      </p:sp>
      <p:sp>
        <p:nvSpPr>
          <p:cNvPr id="3" name="TextBox 2"/>
          <p:cNvSpPr txBox="1"/>
          <p:nvPr/>
        </p:nvSpPr>
        <p:spPr>
          <a:xfrm>
            <a:off x="658368" y="1097280"/>
            <a:ext cx="10972800" cy="1051560"/>
          </a:xfrm>
          <a:prstGeom prst="rect">
            <a:avLst/>
          </a:prstGeom>
          <a:noFill/>
        </p:spPr>
        <p:txBody>
          <a:bodyPr wrap="square" lIns="0" rIns="0" tIns="0" bIns="0"/>
          <a:lstStyle/>
          <a:p>
            <a:pPr algn="l">
              <a:spcBef>
                <a:spcPts val="0"/>
              </a:spcBef>
              <a:spcAft>
                <a:spcPts val="200"/>
              </a:spcAft>
            </a:pPr>
            <a:r>
              <a:rPr sz="4800" b="1">
                <a:solidFill>
                  <a:srgbClr val="FFFFFF"/>
                </a:solidFill>
                <a:latin typeface="Calibri"/>
              </a:rPr>
              <a:t>Integer multiplication</a:t>
            </a:r>
          </a:p>
        </p:txBody>
      </p:sp>
      <p:sp>
        <p:nvSpPr>
          <p:cNvPr id="4" name="TextBox 3"/>
          <p:cNvSpPr txBox="1"/>
          <p:nvPr/>
        </p:nvSpPr>
        <p:spPr>
          <a:xfrm>
            <a:off x="685800" y="2240280"/>
            <a:ext cx="10515600" cy="502920"/>
          </a:xfrm>
          <a:prstGeom prst="rect">
            <a:avLst/>
          </a:prstGeom>
          <a:noFill/>
        </p:spPr>
        <p:txBody>
          <a:bodyPr wrap="square" lIns="0" rIns="0" tIns="0" bIns="0"/>
          <a:lstStyle/>
          <a:p>
            <a:pPr algn="l">
              <a:spcBef>
                <a:spcPts val="0"/>
              </a:spcBef>
              <a:spcAft>
                <a:spcPts val="200"/>
              </a:spcAft>
            </a:pPr>
            <a:r>
              <a:rPr sz="2200" b="0">
                <a:solidFill>
                  <a:srgbClr val="B6C5DB"/>
                </a:solidFill>
                <a:latin typeface="Calibri"/>
              </a:rPr>
              <a:t>Two n-limb inputs. One 2n-limb product. Same contract as GMP.</a:t>
            </a:r>
          </a:p>
        </p:txBody>
      </p:sp>
      <p:sp>
        <p:nvSpPr>
          <p:cNvPr id="5" name="Rounded Rectangle 4"/>
          <p:cNvSpPr/>
          <p:nvPr/>
        </p:nvSpPr>
        <p:spPr>
          <a:xfrm>
            <a:off x="685800" y="3200400"/>
            <a:ext cx="1965960" cy="960120"/>
          </a:xfrm>
          <a:prstGeom prst="roundRect">
            <a:avLst>
              <a:gd name="adj" fmla="val 12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429000"/>
            <a:ext cx="1965960" cy="502920"/>
          </a:xfrm>
          <a:prstGeom prst="rect">
            <a:avLst/>
          </a:prstGeom>
          <a:noFill/>
        </p:spPr>
        <p:txBody>
          <a:bodyPr wrap="square" lIns="0" rIns="0" tIns="0" bIns="0"/>
          <a:lstStyle/>
          <a:p>
            <a:pPr algn="ctr">
              <a:spcBef>
                <a:spcPts val="0"/>
              </a:spcBef>
              <a:spcAft>
                <a:spcPts val="200"/>
              </a:spcAft>
            </a:pPr>
            <a:r>
              <a:rPr sz="1600" b="1">
                <a:solidFill>
                  <a:srgbClr val="1F3660"/>
                </a:solidFill>
                <a:latin typeface="Calibri"/>
              </a:rPr>
              <a:t>schoolbook</a:t>
            </a:r>
          </a:p>
        </p:txBody>
      </p:sp>
      <p:sp>
        <p:nvSpPr>
          <p:cNvPr id="7" name="Rounded Rectangle 6"/>
          <p:cNvSpPr/>
          <p:nvPr/>
        </p:nvSpPr>
        <p:spPr>
          <a:xfrm>
            <a:off x="2880360" y="3200400"/>
            <a:ext cx="1965960" cy="960120"/>
          </a:xfrm>
          <a:prstGeom prst="roundRect">
            <a:avLst>
              <a:gd name="adj" fmla="val 12000"/>
            </a:avLst>
          </a:prstGeom>
          <a:solidFill>
            <a:srgbClr val="D47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3429000"/>
            <a:ext cx="1965960" cy="50292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Karatsuba</a:t>
            </a:r>
          </a:p>
        </p:txBody>
      </p:sp>
      <p:sp>
        <p:nvSpPr>
          <p:cNvPr id="9" name="Rounded Rectangle 8"/>
          <p:cNvSpPr/>
          <p:nvPr/>
        </p:nvSpPr>
        <p:spPr>
          <a:xfrm>
            <a:off x="5074920" y="3200400"/>
            <a:ext cx="1965960" cy="960120"/>
          </a:xfrm>
          <a:prstGeom prst="roundRect">
            <a:avLst>
              <a:gd name="adj" fmla="val 12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3429000"/>
            <a:ext cx="1965960" cy="502920"/>
          </a:xfrm>
          <a:prstGeom prst="rect">
            <a:avLst/>
          </a:prstGeom>
          <a:noFill/>
        </p:spPr>
        <p:txBody>
          <a:bodyPr wrap="square" lIns="0" rIns="0" tIns="0" bIns="0"/>
          <a:lstStyle/>
          <a:p>
            <a:pPr algn="ctr">
              <a:spcBef>
                <a:spcPts val="0"/>
              </a:spcBef>
              <a:spcAft>
                <a:spcPts val="200"/>
              </a:spcAft>
            </a:pPr>
            <a:r>
              <a:rPr sz="1600" b="1">
                <a:solidFill>
                  <a:srgbClr val="1F3660"/>
                </a:solidFill>
                <a:latin typeface="Calibri"/>
              </a:rPr>
              <a:t>FFT</a:t>
            </a:r>
          </a:p>
        </p:txBody>
      </p:sp>
      <p:sp>
        <p:nvSpPr>
          <p:cNvPr id="11" name="Rounded Rectangle 10"/>
          <p:cNvSpPr/>
          <p:nvPr/>
        </p:nvSpPr>
        <p:spPr>
          <a:xfrm>
            <a:off x="7269479" y="3200400"/>
            <a:ext cx="1965960" cy="960120"/>
          </a:xfrm>
          <a:prstGeom prst="roundRect">
            <a:avLst>
              <a:gd name="adj" fmla="val 12000"/>
            </a:avLst>
          </a:prstGeom>
          <a:solidFill>
            <a:srgbClr val="D47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79" y="3429000"/>
            <a:ext cx="1965960" cy="50292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OpenAI</a:t>
            </a:r>
          </a:p>
        </p:txBody>
      </p:sp>
      <p:sp>
        <p:nvSpPr>
          <p:cNvPr id="13" name="TextBox 12"/>
          <p:cNvSpPr txBox="1"/>
          <p:nvPr/>
        </p:nvSpPr>
        <p:spPr>
          <a:xfrm>
            <a:off x="685800" y="5852160"/>
            <a:ext cx="10515600" cy="365760"/>
          </a:xfrm>
          <a:prstGeom prst="rect">
            <a:avLst/>
          </a:prstGeom>
          <a:noFill/>
        </p:spPr>
        <p:txBody>
          <a:bodyPr wrap="square" lIns="0" rIns="0" tIns="0" bIns="0"/>
          <a:lstStyle/>
          <a:p>
            <a:pPr algn="l">
              <a:spcBef>
                <a:spcPts val="0"/>
              </a:spcBef>
              <a:spcAft>
                <a:spcPts val="200"/>
              </a:spcAft>
            </a:pPr>
            <a:r>
              <a:rPr sz="1600" b="0">
                <a:solidFill>
                  <a:srgbClr val="B6C5DB"/>
                </a:solidFill>
                <a:latin typeface="Calibri"/>
              </a:rPr>
              <a:t>Group of three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Five ways to get that product</a:t>
            </a:r>
          </a:p>
        </p:txBody>
      </p:sp>
      <p:sp>
        <p:nvSpPr>
          <p:cNvPr id="3" name="Rounded Rectangle 2"/>
          <p:cNvSpPr/>
          <p:nvPr/>
        </p:nvSpPr>
        <p:spPr>
          <a:xfrm>
            <a:off x="566928" y="1051560"/>
            <a:ext cx="2286000" cy="804672"/>
          </a:xfrm>
          <a:prstGeom prst="roundRect">
            <a:avLst>
              <a:gd name="adj" fmla="val 10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52728"/>
            <a:ext cx="2286000"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Schoolbook</a:t>
            </a:r>
          </a:p>
        </p:txBody>
      </p:sp>
      <p:sp>
        <p:nvSpPr>
          <p:cNvPr id="5" name="TextBox 4"/>
          <p:cNvSpPr txBox="1"/>
          <p:nvPr/>
        </p:nvSpPr>
        <p:spPr>
          <a:xfrm>
            <a:off x="3063240" y="1216151"/>
            <a:ext cx="5760720" cy="5029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Every limb times every limb</a:t>
            </a:r>
          </a:p>
        </p:txBody>
      </p:sp>
      <p:sp>
        <p:nvSpPr>
          <p:cNvPr id="6" name="TextBox 5"/>
          <p:cNvSpPr txBox="1"/>
          <p:nvPr/>
        </p:nvSpPr>
        <p:spPr>
          <a:xfrm>
            <a:off x="8869680" y="1216151"/>
            <a:ext cx="2743200" cy="5029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Theta(n^2)</a:t>
            </a:r>
          </a:p>
        </p:txBody>
      </p:sp>
      <p:sp>
        <p:nvSpPr>
          <p:cNvPr id="7" name="Rounded Rectangle 6"/>
          <p:cNvSpPr/>
          <p:nvPr/>
        </p:nvSpPr>
        <p:spPr>
          <a:xfrm>
            <a:off x="566928" y="2011680"/>
            <a:ext cx="2286000" cy="804672"/>
          </a:xfrm>
          <a:prstGeom prst="roundRect">
            <a:avLst>
              <a:gd name="adj" fmla="val 10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212848"/>
            <a:ext cx="2286000" cy="411480"/>
          </a:xfrm>
          <a:prstGeom prst="rect">
            <a:avLst/>
          </a:prstGeom>
          <a:noFill/>
        </p:spPr>
        <p:txBody>
          <a:bodyPr wrap="square" lIns="0" rIns="0" tIns="0" bIns="0"/>
          <a:lstStyle/>
          <a:p>
            <a:pPr algn="ctr">
              <a:spcBef>
                <a:spcPts val="0"/>
              </a:spcBef>
              <a:spcAft>
                <a:spcPts val="200"/>
              </a:spcAft>
            </a:pPr>
            <a:r>
              <a:rPr sz="1800" b="1">
                <a:solidFill>
                  <a:srgbClr val="1F3660"/>
                </a:solidFill>
                <a:latin typeface="Calibri"/>
              </a:rPr>
              <a:t>Karatsuba</a:t>
            </a:r>
          </a:p>
        </p:txBody>
      </p:sp>
      <p:sp>
        <p:nvSpPr>
          <p:cNvPr id="9" name="TextBox 8"/>
          <p:cNvSpPr txBox="1"/>
          <p:nvPr/>
        </p:nvSpPr>
        <p:spPr>
          <a:xfrm>
            <a:off x="3063240" y="2176272"/>
            <a:ext cx="5760720" cy="5029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Three half-size products</a:t>
            </a:r>
          </a:p>
        </p:txBody>
      </p:sp>
      <p:sp>
        <p:nvSpPr>
          <p:cNvPr id="10" name="TextBox 9"/>
          <p:cNvSpPr txBox="1"/>
          <p:nvPr/>
        </p:nvSpPr>
        <p:spPr>
          <a:xfrm>
            <a:off x="8869680" y="2176272"/>
            <a:ext cx="2743200" cy="5029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about n^1.585</a:t>
            </a:r>
          </a:p>
        </p:txBody>
      </p:sp>
      <p:sp>
        <p:nvSpPr>
          <p:cNvPr id="11" name="Rounded Rectangle 10"/>
          <p:cNvSpPr/>
          <p:nvPr/>
        </p:nvSpPr>
        <p:spPr>
          <a:xfrm>
            <a:off x="566928" y="2971800"/>
            <a:ext cx="2286000" cy="804672"/>
          </a:xfrm>
          <a:prstGeom prst="roundRect">
            <a:avLst>
              <a:gd name="adj" fmla="val 10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172968"/>
            <a:ext cx="2286000"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FFT</a:t>
            </a:r>
          </a:p>
        </p:txBody>
      </p:sp>
      <p:sp>
        <p:nvSpPr>
          <p:cNvPr id="13" name="TextBox 12"/>
          <p:cNvSpPr txBox="1"/>
          <p:nvPr/>
        </p:nvSpPr>
        <p:spPr>
          <a:xfrm>
            <a:off x="3063240" y="3136392"/>
            <a:ext cx="5760720" cy="5029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Digits, then a complex FFT</a:t>
            </a:r>
          </a:p>
        </p:txBody>
      </p:sp>
      <p:sp>
        <p:nvSpPr>
          <p:cNvPr id="14" name="TextBox 13"/>
          <p:cNvSpPr txBox="1"/>
          <p:nvPr/>
        </p:nvSpPr>
        <p:spPr>
          <a:xfrm>
            <a:off x="8869680" y="3136392"/>
            <a:ext cx="2743200" cy="5029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O(n log n)</a:t>
            </a:r>
          </a:p>
        </p:txBody>
      </p:sp>
      <p:sp>
        <p:nvSpPr>
          <p:cNvPr id="15" name="Rounded Rectangle 14"/>
          <p:cNvSpPr/>
          <p:nvPr/>
        </p:nvSpPr>
        <p:spPr>
          <a:xfrm>
            <a:off x="566928" y="3931920"/>
            <a:ext cx="2286000" cy="804672"/>
          </a:xfrm>
          <a:prstGeom prst="roundRect">
            <a:avLst>
              <a:gd name="adj" fmla="val 10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133088"/>
            <a:ext cx="2286000" cy="411480"/>
          </a:xfrm>
          <a:prstGeom prst="rect">
            <a:avLst/>
          </a:prstGeom>
          <a:noFill/>
        </p:spPr>
        <p:txBody>
          <a:bodyPr wrap="square" lIns="0" rIns="0" tIns="0" bIns="0"/>
          <a:lstStyle/>
          <a:p>
            <a:pPr algn="ctr">
              <a:spcBef>
                <a:spcPts val="0"/>
              </a:spcBef>
              <a:spcAft>
                <a:spcPts val="200"/>
              </a:spcAft>
            </a:pPr>
            <a:r>
              <a:rPr sz="1800" b="1">
                <a:solidFill>
                  <a:srgbClr val="1F3660"/>
                </a:solidFill>
                <a:latin typeface="Calibri"/>
              </a:rPr>
              <a:t>OpenAI</a:t>
            </a:r>
          </a:p>
        </p:txBody>
      </p:sp>
      <p:sp>
        <p:nvSpPr>
          <p:cNvPr id="17" name="TextBox 16"/>
          <p:cNvSpPr txBox="1"/>
          <p:nvPr/>
        </p:nvSpPr>
        <p:spPr>
          <a:xfrm>
            <a:off x="3063240" y="4096512"/>
            <a:ext cx="5760720" cy="5029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16-bit digits, modular NTT</a:t>
            </a:r>
          </a:p>
        </p:txBody>
      </p:sp>
      <p:sp>
        <p:nvSpPr>
          <p:cNvPr id="18" name="TextBox 17"/>
          <p:cNvSpPr txBox="1"/>
          <p:nvPr/>
        </p:nvSpPr>
        <p:spPr>
          <a:xfrm>
            <a:off x="8869680" y="4096512"/>
            <a:ext cx="2743200" cy="5029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practical convolution</a:t>
            </a:r>
          </a:p>
        </p:txBody>
      </p:sp>
      <p:sp>
        <p:nvSpPr>
          <p:cNvPr id="19" name="Rounded Rectangle 18"/>
          <p:cNvSpPr/>
          <p:nvPr/>
        </p:nvSpPr>
        <p:spPr>
          <a:xfrm>
            <a:off x="566928" y="4892040"/>
            <a:ext cx="2286000" cy="804672"/>
          </a:xfrm>
          <a:prstGeom prst="roundRect">
            <a:avLst>
              <a:gd name="adj" fmla="val 10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093207"/>
            <a:ext cx="2286000"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GMP</a:t>
            </a:r>
          </a:p>
        </p:txBody>
      </p:sp>
      <p:sp>
        <p:nvSpPr>
          <p:cNvPr id="21" name="TextBox 20"/>
          <p:cNvSpPr txBox="1"/>
          <p:nvPr/>
        </p:nvSpPr>
        <p:spPr>
          <a:xfrm>
            <a:off x="3063240" y="5056631"/>
            <a:ext cx="5760720" cy="5029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mpn_mul_n, the library baseline</a:t>
            </a:r>
          </a:p>
        </p:txBody>
      </p:sp>
      <p:sp>
        <p:nvSpPr>
          <p:cNvPr id="22" name="TextBox 21"/>
          <p:cNvSpPr txBox="1"/>
          <p:nvPr/>
        </p:nvSpPr>
        <p:spPr>
          <a:xfrm>
            <a:off x="8869680" y="5056631"/>
            <a:ext cx="2743200" cy="5029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tuned code</a:t>
            </a:r>
          </a:p>
        </p:txBody>
      </p:sp>
      <p:sp>
        <p:nvSpPr>
          <p:cNvPr id="23" name="TextBox 22"/>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GMP is the library baseline we check against.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Schoolbook: where the carry has to land</a:t>
            </a:r>
          </a:p>
        </p:txBody>
      </p:sp>
      <p:sp>
        <p:nvSpPr>
          <p:cNvPr id="3" name="Rounded Rectangle 2"/>
          <p:cNvSpPr/>
          <p:nvPr/>
        </p:nvSpPr>
        <p:spPr>
          <a:xfrm>
            <a:off x="566928" y="1097280"/>
            <a:ext cx="11064240" cy="10515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80160"/>
            <a:ext cx="10698480" cy="73152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After limb i is finished, result[i + n] holds the carry out of that row.</a:t>
            </a:r>
          </a:p>
          <a:p>
            <a:pPr algn="l">
              <a:spcBef>
                <a:spcPts val="0"/>
              </a:spcBef>
              <a:spcAft>
                <a:spcPts val="200"/>
              </a:spcAft>
            </a:pPr>
            <a:r>
              <a:rPr sz="2200" b="1">
                <a:solidFill>
                  <a:srgbClr val="1F3660"/>
                </a:solidFill>
                <a:latin typeface="Calibri"/>
              </a:rPr>
              <a:t>Every lower limb already includes the partial products that belong there.</a:t>
            </a:r>
          </a:p>
        </p:txBody>
      </p:sp>
      <p:sp>
        <p:nvSpPr>
          <p:cNvPr id="5" name="Rounded Rectangle 4"/>
          <p:cNvSpPr/>
          <p:nvPr/>
        </p:nvSpPr>
        <p:spPr>
          <a:xfrm>
            <a:off x="566928" y="2377440"/>
            <a:ext cx="11064240" cy="1965960"/>
          </a:xfrm>
          <a:prstGeom prst="roundRect">
            <a:avLst>
              <a:gd name="adj" fmla="val 10000"/>
            </a:avLst>
          </a:prstGeom>
          <a:solidFill>
            <a:srgbClr val="181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14600"/>
            <a:ext cx="10698480" cy="1737360"/>
          </a:xfrm>
          <a:prstGeom prst="rect">
            <a:avLst/>
          </a:prstGeom>
          <a:noFill/>
        </p:spPr>
        <p:txBody>
          <a:bodyPr wrap="square" tIns="73152" bIns="54864" anchor="ctr">
            <a:spAutoFit/>
          </a:bodyPr>
          <a:lstStyle/>
          <a:p>
            <a:pPr algn="l">
              <a:spcBef>
                <a:spcPts val="0"/>
              </a:spcBef>
              <a:spcAft>
                <a:spcPts val="300"/>
              </a:spcAft>
            </a:pPr>
            <a:r>
              <a:rPr sz="1800" b="0">
                <a:solidFill>
                  <a:srgbClr val="E8ECF2"/>
                </a:solidFill>
                <a:latin typeface="Consolas"/>
              </a:rPr>
              <a:t>product = a[i] * b[j] + result[i + j] + carry;</a:t>
            </a:r>
          </a:p>
          <a:p>
            <a:pPr algn="l">
              <a:spcBef>
                <a:spcPts val="0"/>
              </a:spcBef>
              <a:spcAft>
                <a:spcPts val="300"/>
              </a:spcAft>
            </a:pPr>
            <a:r>
              <a:rPr sz="1800" b="0">
                <a:solidFill>
                  <a:srgbClr val="E8ECF2"/>
                </a:solidFill>
                <a:latin typeface="Consolas"/>
              </a:rPr>
              <a:t>result[i + j] = (mp_limb_t)product;</a:t>
            </a:r>
          </a:p>
          <a:p>
            <a:pPr algn="l">
              <a:spcBef>
                <a:spcPts val="0"/>
              </a:spcBef>
              <a:spcAft>
                <a:spcPts val="300"/>
              </a:spcAft>
            </a:pPr>
            <a:r>
              <a:rPr sz="1800" b="1">
                <a:solidFill>
                  <a:srgbClr val="D47523"/>
                </a:solidFill>
                <a:latin typeface="Consolas"/>
              </a:rPr>
              <a:t>carry = product &gt;&gt; 64;</a:t>
            </a:r>
          </a:p>
          <a:p>
            <a:pPr algn="l">
              <a:spcBef>
                <a:spcPts val="0"/>
              </a:spcBef>
              <a:spcAft>
                <a:spcPts val="300"/>
              </a:spcAft>
            </a:pPr>
            <a:r>
              <a:rPr sz="1800" b="1">
                <a:solidFill>
                  <a:srgbClr val="D47523"/>
                </a:solidFill>
                <a:latin typeface="Consolas"/>
              </a:rPr>
              <a:t>result[i + n] = carry;</a:t>
            </a:r>
          </a:p>
        </p:txBody>
      </p:sp>
      <p:sp>
        <p:nvSpPr>
          <p:cNvPr id="7" name="TextBox 6"/>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SchoolbookMul.c. One nested loop. Theta(n squared). No extra buffer.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breaks if you drop the carry</a:t>
            </a:r>
          </a:p>
        </p:txBody>
      </p:sp>
      <p:sp>
        <p:nvSpPr>
          <p:cNvPr id="3" name="Rounded Rectangle 2"/>
          <p:cNvSpPr/>
          <p:nvPr/>
        </p:nvSpPr>
        <p:spPr>
          <a:xfrm>
            <a:off x="566928" y="1143000"/>
            <a:ext cx="5394960" cy="4754880"/>
          </a:xfrm>
          <a:prstGeom prst="roundRect">
            <a:avLst>
              <a:gd name="adj" fmla="val 10000"/>
            </a:avLst>
          </a:prstGeom>
          <a:solidFill>
            <a:srgbClr val="F4E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289304"/>
            <a:ext cx="5029200" cy="384048"/>
          </a:xfrm>
          <a:prstGeom prst="rect">
            <a:avLst/>
          </a:prstGeom>
          <a:noFill/>
        </p:spPr>
        <p:txBody>
          <a:bodyPr wrap="square" lIns="0" rIns="0" tIns="0" bIns="0"/>
          <a:lstStyle/>
          <a:p>
            <a:pPr algn="l">
              <a:spcBef>
                <a:spcPts val="0"/>
              </a:spcBef>
              <a:spcAft>
                <a:spcPts val="200"/>
              </a:spcAft>
            </a:pPr>
            <a:r>
              <a:rPr sz="1800" b="1">
                <a:solidFill>
                  <a:srgbClr val="B03030"/>
                </a:solidFill>
                <a:latin typeface="Calibri"/>
              </a:rPr>
              <a:t>All-ones limb, times itself</a:t>
            </a:r>
          </a:p>
        </p:txBody>
      </p:sp>
      <p:sp>
        <p:nvSpPr>
          <p:cNvPr id="5" name="TextBox 4"/>
          <p:cNvSpPr txBox="1"/>
          <p:nvPr/>
        </p:nvSpPr>
        <p:spPr>
          <a:xfrm>
            <a:off x="768096" y="1709928"/>
            <a:ext cx="5029200" cy="40416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0xFFFFFFFFFFFFFFFF squared.</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Low limb is 1.</a:t>
            </a:r>
          </a:p>
          <a:p>
            <a:pPr algn="l">
              <a:spcBef>
                <a:spcPts val="0"/>
              </a:spcBef>
              <a:spcAft>
                <a:spcPts val="200"/>
              </a:spcAft>
            </a:pPr>
            <a:r>
              <a:rPr sz="1600" b="0">
                <a:solidFill>
                  <a:srgbClr val="1F3660"/>
                </a:solidFill>
                <a:latin typeface="Calibri"/>
              </a:rPr>
              <a:t>High limb is 0xFFFFFFFFFFFFFFFE.</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That high limb is the carry.</a:t>
            </a:r>
          </a:p>
        </p:txBody>
      </p:sp>
      <p:sp>
        <p:nvSpPr>
          <p:cNvPr id="6" name="Rounded Rectangle 5"/>
          <p:cNvSpPr/>
          <p:nvPr/>
        </p:nvSpPr>
        <p:spPr>
          <a:xfrm>
            <a:off x="6217920" y="1143000"/>
            <a:ext cx="5394960" cy="4754880"/>
          </a:xfrm>
          <a:prstGeom prst="roundRect">
            <a:avLst>
              <a:gd name="adj" fmla="val 10000"/>
            </a:avLst>
          </a:prstGeom>
          <a:solidFill>
            <a:srgbClr val="E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19088" y="1289304"/>
            <a:ext cx="5029200" cy="384048"/>
          </a:xfrm>
          <a:prstGeom prst="rect">
            <a:avLst/>
          </a:prstGeom>
          <a:noFill/>
        </p:spPr>
        <p:txBody>
          <a:bodyPr wrap="square" lIns="0" rIns="0" tIns="0" bIns="0"/>
          <a:lstStyle/>
          <a:p>
            <a:pPr algn="l">
              <a:spcBef>
                <a:spcPts val="0"/>
              </a:spcBef>
              <a:spcAft>
                <a:spcPts val="200"/>
              </a:spcAft>
            </a:pPr>
            <a:r>
              <a:rPr sz="1800" b="1">
                <a:solidFill>
                  <a:srgbClr val="247A48"/>
                </a:solidFill>
                <a:latin typeface="Calibri"/>
              </a:rPr>
              <a:t>If the carry is thrown away</a:t>
            </a:r>
          </a:p>
        </p:txBody>
      </p:sp>
      <p:sp>
        <p:nvSpPr>
          <p:cNvPr id="8" name="TextBox 7"/>
          <p:cNvSpPr txBox="1"/>
          <p:nvPr/>
        </p:nvSpPr>
        <p:spPr>
          <a:xfrm>
            <a:off x="6419088" y="1709928"/>
            <a:ext cx="5029200" cy="40416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The low limb is still 1, so it can look fine.</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 high limb stays 0.</a:t>
            </a:r>
          </a:p>
          <a:p>
            <a:pPr algn="l">
              <a:spcBef>
                <a:spcPts val="0"/>
              </a:spcBef>
              <a:spcAft>
                <a:spcPts val="200"/>
              </a:spcAft>
            </a:pPr>
            <a:r>
              <a:rPr sz="1600" b="0">
                <a:solidFill>
                  <a:srgbClr val="1F3660"/>
                </a:solidFill>
                <a:latin typeface="Calibri"/>
              </a:rPr>
              <a:t>The product is short by the whole carry.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660"/>
        </a:solidFill>
        <a:effectLst/>
      </p:bgPr>
    </p:bg>
    <p:spTree>
      <p:nvGrpSpPr>
        <p:cNvPr id="1" name=""/>
        <p:cNvGrpSpPr/>
        <p:nvPr/>
      </p:nvGrpSpPr>
      <p:grpSpPr/>
      <p:sp>
        <p:nvSpPr>
          <p:cNvPr id="2" name="TextBox 1"/>
          <p:cNvSpPr txBox="1"/>
          <p:nvPr/>
        </p:nvSpPr>
        <p:spPr>
          <a:xfrm>
            <a:off x="685800" y="658368"/>
            <a:ext cx="10058400" cy="292608"/>
          </a:xfrm>
          <a:prstGeom prst="rect">
            <a:avLst/>
          </a:prstGeom>
          <a:noFill/>
        </p:spPr>
        <p:txBody>
          <a:bodyPr wrap="square" lIns="0" rIns="0" tIns="0" bIns="0"/>
          <a:lstStyle/>
          <a:p>
            <a:pPr algn="l">
              <a:spcBef>
                <a:spcPts val="0"/>
              </a:spcBef>
              <a:spcAft>
                <a:spcPts val="200"/>
              </a:spcAft>
            </a:pPr>
            <a:r>
              <a:rPr sz="1600" b="1">
                <a:solidFill>
                  <a:srgbClr val="D47523"/>
                </a:solidFill>
                <a:latin typeface="Calibri"/>
              </a:rPr>
              <a:t>PER-ALGORITHM DEEP DIVE</a:t>
            </a:r>
          </a:p>
        </p:txBody>
      </p:sp>
      <p:sp>
        <p:nvSpPr>
          <p:cNvPr id="3" name="TextBox 2"/>
          <p:cNvSpPr txBox="1"/>
          <p:nvPr/>
        </p:nvSpPr>
        <p:spPr>
          <a:xfrm>
            <a:off x="658368" y="1097280"/>
            <a:ext cx="10972800" cy="1051560"/>
          </a:xfrm>
          <a:prstGeom prst="rect">
            <a:avLst/>
          </a:prstGeom>
          <a:noFill/>
        </p:spPr>
        <p:txBody>
          <a:bodyPr wrap="square" lIns="0" rIns="0" tIns="0" bIns="0"/>
          <a:lstStyle/>
          <a:p>
            <a:pPr algn="l">
              <a:spcBef>
                <a:spcPts val="0"/>
              </a:spcBef>
              <a:spcAft>
                <a:spcPts val="200"/>
              </a:spcAft>
            </a:pPr>
            <a:r>
              <a:rPr sz="4800" b="1">
                <a:solidFill>
                  <a:srgbClr val="FFFFFF"/>
                </a:solidFill>
                <a:latin typeface="Calibri"/>
              </a:rPr>
              <a:t>Karatsuba multiplication</a:t>
            </a:r>
          </a:p>
        </p:txBody>
      </p:sp>
      <p:sp>
        <p:nvSpPr>
          <p:cNvPr id="4" name="TextBox 3"/>
          <p:cNvSpPr txBox="1"/>
          <p:nvPr/>
        </p:nvSpPr>
        <p:spPr>
          <a:xfrm>
            <a:off x="685800" y="2240280"/>
            <a:ext cx="10515600" cy="502920"/>
          </a:xfrm>
          <a:prstGeom prst="rect">
            <a:avLst/>
          </a:prstGeom>
          <a:noFill/>
        </p:spPr>
        <p:txBody>
          <a:bodyPr wrap="square" lIns="0" rIns="0" tIns="0" bIns="0"/>
          <a:lstStyle/>
          <a:p>
            <a:pPr algn="l">
              <a:spcBef>
                <a:spcPts val="0"/>
              </a:spcBef>
              <a:spcAft>
                <a:spcPts val="200"/>
              </a:spcAft>
            </a:pPr>
            <a:r>
              <a:rPr sz="2200" b="0">
                <a:solidFill>
                  <a:srgbClr val="B6C5DB"/>
                </a:solidFill>
                <a:latin typeface="Calibri"/>
              </a:rPr>
              <a:t>The invariant, the case it forces, and what breaks without it</a:t>
            </a:r>
          </a:p>
        </p:txBody>
      </p:sp>
      <p:sp>
        <p:nvSpPr>
          <p:cNvPr id="5" name="Rounded Rectangle 4"/>
          <p:cNvSpPr/>
          <p:nvPr/>
        </p:nvSpPr>
        <p:spPr>
          <a:xfrm>
            <a:off x="685800" y="3200400"/>
            <a:ext cx="1965960" cy="960120"/>
          </a:xfrm>
          <a:prstGeom prst="roundRect">
            <a:avLst>
              <a:gd name="adj" fmla="val 12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429000"/>
            <a:ext cx="1965960" cy="502920"/>
          </a:xfrm>
          <a:prstGeom prst="rect">
            <a:avLst/>
          </a:prstGeom>
          <a:noFill/>
        </p:spPr>
        <p:txBody>
          <a:bodyPr wrap="square" lIns="0" rIns="0" tIns="0" bIns="0"/>
          <a:lstStyle/>
          <a:p>
            <a:pPr algn="ctr">
              <a:spcBef>
                <a:spcPts val="0"/>
              </a:spcBef>
              <a:spcAft>
                <a:spcPts val="200"/>
              </a:spcAft>
            </a:pPr>
            <a:r>
              <a:rPr sz="1600" b="1">
                <a:solidFill>
                  <a:srgbClr val="1F3660"/>
                </a:solidFill>
                <a:latin typeface="Calibri"/>
              </a:rPr>
              <a:t>a1  high half</a:t>
            </a:r>
          </a:p>
        </p:txBody>
      </p:sp>
      <p:sp>
        <p:nvSpPr>
          <p:cNvPr id="7" name="Rounded Rectangle 6"/>
          <p:cNvSpPr/>
          <p:nvPr/>
        </p:nvSpPr>
        <p:spPr>
          <a:xfrm>
            <a:off x="2880360" y="3200400"/>
            <a:ext cx="1965960" cy="960120"/>
          </a:xfrm>
          <a:prstGeom prst="roundRect">
            <a:avLst>
              <a:gd name="adj" fmla="val 12000"/>
            </a:avLst>
          </a:prstGeom>
          <a:solidFill>
            <a:srgbClr val="D47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3429000"/>
            <a:ext cx="1965960" cy="50292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a0  low half</a:t>
            </a:r>
          </a:p>
        </p:txBody>
      </p:sp>
      <p:sp>
        <p:nvSpPr>
          <p:cNvPr id="9" name="TextBox 8"/>
          <p:cNvSpPr txBox="1"/>
          <p:nvPr/>
        </p:nvSpPr>
        <p:spPr>
          <a:xfrm>
            <a:off x="685800" y="5852160"/>
            <a:ext cx="10515600" cy="365760"/>
          </a:xfrm>
          <a:prstGeom prst="rect">
            <a:avLst/>
          </a:prstGeom>
          <a:noFill/>
        </p:spPr>
        <p:txBody>
          <a:bodyPr wrap="square" lIns="0" rIns="0" tIns="0" bIns="0"/>
          <a:lstStyle/>
          <a:p>
            <a:pPr algn="l">
              <a:spcBef>
                <a:spcPts val="0"/>
              </a:spcBef>
              <a:spcAft>
                <a:spcPts val="200"/>
              </a:spcAft>
            </a:pPr>
            <a:r>
              <a:rPr sz="1600" b="0">
                <a:solidFill>
                  <a:srgbClr val="B6C5DB"/>
                </a:solidFill>
                <a:latin typeface="Calibri"/>
              </a:rPr>
              <a:t>Code/KaratsubaMul.c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Three products instead of four</a:t>
            </a:r>
          </a:p>
        </p:txBody>
      </p:sp>
      <p:sp>
        <p:nvSpPr>
          <p:cNvPr id="3" name="TextBox 2"/>
          <p:cNvSpPr txBox="1"/>
          <p:nvPr/>
        </p:nvSpPr>
        <p:spPr>
          <a:xfrm>
            <a:off x="566928" y="1051560"/>
            <a:ext cx="6583680" cy="64008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Split at h = floor(n / 2).</a:t>
            </a:r>
          </a:p>
          <a:p>
            <a:pPr algn="l">
              <a:spcBef>
                <a:spcPts val="0"/>
              </a:spcBef>
              <a:spcAft>
                <a:spcPts val="200"/>
              </a:spcAft>
            </a:pPr>
            <a:r>
              <a:rPr sz="2000" b="0">
                <a:solidFill>
                  <a:srgbClr val="1F3660"/>
                </a:solidFill>
                <a:latin typeface="Calibri"/>
              </a:rPr>
              <a:t>a = a1 * B^h + a0.</a:t>
            </a:r>
          </a:p>
        </p:txBody>
      </p:sp>
      <p:sp>
        <p:nvSpPr>
          <p:cNvPr id="4" name="TextBox 3"/>
          <p:cNvSpPr txBox="1"/>
          <p:nvPr/>
        </p:nvSpPr>
        <p:spPr>
          <a:xfrm>
            <a:off x="502920" y="1828800"/>
            <a:ext cx="6766560" cy="2103120"/>
          </a:xfrm>
          <a:prstGeom prst="rect">
            <a:avLst/>
          </a:prstGeom>
          <a:noFill/>
        </p:spPr>
        <p:txBody>
          <a:bodyPr wrap="square" tIns="73152" bIns="54864" anchor="t">
            <a:spAutoFit/>
          </a:bodyPr>
          <a:lstStyle/>
          <a:p>
            <a:pPr algn="l">
              <a:spcBef>
                <a:spcPts val="0"/>
              </a:spcBef>
              <a:spcAft>
                <a:spcPts val="300"/>
              </a:spcAft>
            </a:pPr>
            <a:r>
              <a:rPr sz="2200" b="1">
                <a:solidFill>
                  <a:srgbClr val="1F3660"/>
                </a:solidFill>
                <a:latin typeface="Calibri"/>
              </a:rPr>
              <a:t>z0 = a0 * b0</a:t>
            </a:r>
          </a:p>
          <a:p>
            <a:pPr algn="l">
              <a:spcBef>
                <a:spcPts val="0"/>
              </a:spcBef>
              <a:spcAft>
                <a:spcPts val="300"/>
              </a:spcAft>
            </a:pPr>
            <a:r>
              <a:rPr sz="2200" b="1">
                <a:solidFill>
                  <a:srgbClr val="1F3660"/>
                </a:solidFill>
                <a:latin typeface="Calibri"/>
              </a:rPr>
              <a:t>z2 = a1 * b1</a:t>
            </a:r>
          </a:p>
          <a:p>
            <a:pPr algn="l">
              <a:spcBef>
                <a:spcPts val="0"/>
              </a:spcBef>
              <a:spcAft>
                <a:spcPts val="300"/>
              </a:spcAft>
            </a:pPr>
            <a:r>
              <a:rPr sz="2000" b="1">
                <a:solidFill>
                  <a:srgbClr val="1F3660"/>
                </a:solidFill>
                <a:latin typeface="Calibri"/>
              </a:rPr>
              <a:t>z1 = z0 + z2 - (a0 - a1)(b0 - b1)</a:t>
            </a:r>
          </a:p>
        </p:txBody>
      </p:sp>
      <p:sp>
        <p:nvSpPr>
          <p:cNvPr id="5" name="Rounded Rectangle 4"/>
          <p:cNvSpPr/>
          <p:nvPr/>
        </p:nvSpPr>
        <p:spPr>
          <a:xfrm>
            <a:off x="566928" y="4160520"/>
            <a:ext cx="6583680" cy="1051560"/>
          </a:xfrm>
          <a:prstGeom prst="roundRect">
            <a:avLst>
              <a:gd name="adj" fmla="val 10000"/>
            </a:avLst>
          </a:prstGeom>
          <a:solidFill>
            <a:srgbClr val="F5E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389120"/>
            <a:ext cx="6217920" cy="640080"/>
          </a:xfrm>
          <a:prstGeom prst="rect">
            <a:avLst/>
          </a:prstGeom>
          <a:noFill/>
        </p:spPr>
        <p:txBody>
          <a:bodyPr wrap="square" lIns="0" rIns="0" tIns="0" bIns="0"/>
          <a:lstStyle/>
          <a:p>
            <a:pPr algn="l">
              <a:spcBef>
                <a:spcPts val="0"/>
              </a:spcBef>
              <a:spcAft>
                <a:spcPts val="200"/>
              </a:spcAft>
            </a:pPr>
            <a:r>
              <a:rPr sz="2000" b="1">
                <a:solidFill>
                  <a:srgbClr val="1F3660"/>
                </a:solidFill>
                <a:latin typeface="Calibri"/>
              </a:rPr>
              <a:t>The middle term costs one product instead of two.</a:t>
            </a:r>
          </a:p>
        </p:txBody>
      </p:sp>
      <p:sp>
        <p:nvSpPr>
          <p:cNvPr id="7" name="Rounded Rectangle 6"/>
          <p:cNvSpPr/>
          <p:nvPr/>
        </p:nvSpPr>
        <p:spPr>
          <a:xfrm>
            <a:off x="7589520" y="1143000"/>
            <a:ext cx="4023360" cy="40233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371600"/>
            <a:ext cx="3657600" cy="731520"/>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Each call makes 3 half-size calls</a:t>
            </a:r>
          </a:p>
        </p:txBody>
      </p:sp>
      <p:sp>
        <p:nvSpPr>
          <p:cNvPr id="9" name="TextBox 8"/>
          <p:cNvSpPr txBox="1"/>
          <p:nvPr/>
        </p:nvSpPr>
        <p:spPr>
          <a:xfrm>
            <a:off x="7772400" y="2377440"/>
            <a:ext cx="3657600" cy="146304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T(n) = 3T(n/2) + Theta(n)</a:t>
            </a:r>
          </a:p>
          <a:p>
            <a:pPr algn="l">
              <a:spcBef>
                <a:spcPts val="0"/>
              </a:spcBef>
              <a:spcAft>
                <a:spcPts val="200"/>
              </a:spcAft>
            </a:pPr>
            <a:r>
              <a:rPr sz="2200" b="1">
                <a:solidFill>
                  <a:srgbClr val="1F3660"/>
                </a:solidFill>
                <a:latin typeface="Calibri"/>
              </a:rPr>
              <a:t>= Theta(n^1.585)</a:t>
            </a:r>
          </a:p>
        </p:txBody>
      </p:sp>
      <p:sp>
        <p:nvSpPr>
          <p:cNvPr id="10" name="TextBox 9"/>
          <p:cNvSpPr txBox="1"/>
          <p:nvPr/>
        </p:nvSpPr>
        <p:spPr>
          <a:xfrm>
            <a:off x="7772400" y="4114800"/>
            <a:ext cx="3657600" cy="73152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Below 16 limbs it uses the same schoolbook loop.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The invariant</a:t>
            </a:r>
          </a:p>
        </p:txBody>
      </p:sp>
      <p:sp>
        <p:nvSpPr>
          <p:cNvPr id="3" name="Rounded Rectangle 2"/>
          <p:cNvSpPr/>
          <p:nvPr/>
        </p:nvSpPr>
        <p:spPr>
          <a:xfrm>
            <a:off x="566928" y="1051560"/>
            <a:ext cx="11064240" cy="96012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61872"/>
            <a:ext cx="10698480" cy="594360"/>
          </a:xfrm>
          <a:prstGeom prst="rect">
            <a:avLst/>
          </a:prstGeom>
          <a:noFill/>
        </p:spPr>
        <p:txBody>
          <a:bodyPr wrap="square" lIns="0" rIns="0" tIns="0" bIns="0"/>
          <a:lstStyle/>
          <a:p>
            <a:pPr algn="l">
              <a:spcBef>
                <a:spcPts val="0"/>
              </a:spcBef>
              <a:spcAft>
                <a:spcPts val="200"/>
              </a:spcAft>
            </a:pPr>
            <a:r>
              <a:rPr sz="2400" b="1">
                <a:solidFill>
                  <a:srgbClr val="1F3660"/>
                </a:solidFill>
                <a:latin typeface="Calibri"/>
              </a:rPr>
              <a:t>Every recursive product is square, and strictly smaller than n.</a:t>
            </a:r>
          </a:p>
        </p:txBody>
      </p:sp>
      <p:sp>
        <p:nvSpPr>
          <p:cNvPr id="5" name="Rounded Rectangle 4"/>
          <p:cNvSpPr/>
          <p:nvPr/>
        </p:nvSpPr>
        <p:spPr>
          <a:xfrm>
            <a:off x="566928" y="2194560"/>
            <a:ext cx="11064240" cy="1554480"/>
          </a:xfrm>
          <a:prstGeom prst="roundRect">
            <a:avLst>
              <a:gd name="adj" fmla="val 10000"/>
            </a:avLst>
          </a:prstGeom>
          <a:solidFill>
            <a:srgbClr val="181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31720"/>
            <a:ext cx="10698480" cy="1325880"/>
          </a:xfrm>
          <a:prstGeom prst="rect">
            <a:avLst/>
          </a:prstGeom>
          <a:noFill/>
        </p:spPr>
        <p:txBody>
          <a:bodyPr wrap="square" tIns="73152" bIns="54864" anchor="ctr">
            <a:spAutoFit/>
          </a:bodyPr>
          <a:lstStyle/>
          <a:p>
            <a:pPr algn="l">
              <a:spcBef>
                <a:spcPts val="0"/>
              </a:spcBef>
              <a:spcAft>
                <a:spcPts val="300"/>
              </a:spcAft>
            </a:pPr>
            <a:r>
              <a:rPr sz="1600" b="0">
                <a:solidFill>
                  <a:srgbClr val="E8ECF2"/>
                </a:solidFill>
                <a:latin typeface="Consolas"/>
              </a:rPr>
              <a:t>KaratsubaRecurse(middle, ..., </a:t>
            </a:r>
            <a:r>
              <a:rPr sz="1600" b="1">
                <a:solidFill>
                  <a:srgbClr val="D47523"/>
                </a:solidFill>
                <a:latin typeface="Consolas"/>
              </a:rPr>
              <a:t>lowSize</a:t>
            </a:r>
            <a:r>
              <a:rPr sz="1600" b="0">
                <a:solidFill>
                  <a:srgbClr val="E8ECF2"/>
                </a:solidFill>
                <a:latin typeface="Consolas"/>
              </a:rPr>
              <a:t>);</a:t>
            </a:r>
          </a:p>
          <a:p>
            <a:pPr algn="l">
              <a:spcBef>
                <a:spcPts val="0"/>
              </a:spcBef>
              <a:spcAft>
                <a:spcPts val="300"/>
              </a:spcAft>
            </a:pPr>
            <a:r>
              <a:rPr sz="1600" b="0">
                <a:solidFill>
                  <a:srgbClr val="E8ECF2"/>
                </a:solidFill>
                <a:latin typeface="Consolas"/>
              </a:rPr>
              <a:t>KaratsubaRecurse(z0, a, b, </a:t>
            </a:r>
            <a:r>
              <a:rPr sz="1600" b="1">
                <a:solidFill>
                  <a:srgbClr val="D47523"/>
                </a:solidFill>
                <a:latin typeface="Consolas"/>
              </a:rPr>
              <a:t>lowSize</a:t>
            </a:r>
            <a:r>
              <a:rPr sz="1600" b="0">
                <a:solidFill>
                  <a:srgbClr val="E8ECF2"/>
                </a:solidFill>
                <a:latin typeface="Consolas"/>
              </a:rPr>
              <a:t>);</a:t>
            </a:r>
          </a:p>
          <a:p>
            <a:pPr algn="l">
              <a:spcBef>
                <a:spcPts val="0"/>
              </a:spcBef>
              <a:spcAft>
                <a:spcPts val="300"/>
              </a:spcAft>
            </a:pPr>
            <a:r>
              <a:rPr sz="1600" b="0">
                <a:solidFill>
                  <a:srgbClr val="E8ECF2"/>
                </a:solidFill>
                <a:latin typeface="Consolas"/>
              </a:rPr>
              <a:t>KaratsubaRecurse(z2, aHigh, bHigh, </a:t>
            </a:r>
            <a:r>
              <a:rPr sz="1600" b="1">
                <a:solidFill>
                  <a:srgbClr val="D47523"/>
                </a:solidFill>
                <a:latin typeface="Consolas"/>
              </a:rPr>
              <a:t>highSize</a:t>
            </a:r>
            <a:r>
              <a:rPr sz="1600" b="0">
                <a:solidFill>
                  <a:srgbClr val="E8ECF2"/>
                </a:solidFill>
                <a:latin typeface="Consolas"/>
              </a:rPr>
              <a:t>);</a:t>
            </a:r>
          </a:p>
        </p:txBody>
      </p:sp>
      <p:sp>
        <p:nvSpPr>
          <p:cNvPr id="7" name="TextBox 6"/>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KaratsubaMul.c:198-200.   lowSize = n - n/2.   highSize = n/2.   Both are below n for every n at least 2.</a:t>
            </a:r>
          </a:p>
        </p:txBody>
      </p:sp>
      <p:sp>
        <p:nvSpPr>
          <p:cNvPr id="8" name="Rounded Rectangle 7"/>
          <p:cNvSpPr/>
          <p:nvPr/>
        </p:nvSpPr>
        <p:spPr>
          <a:xfrm>
            <a:off x="566928" y="4434840"/>
            <a:ext cx="5394960" cy="17373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4581144"/>
            <a:ext cx="502920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1   It always terminates</a:t>
            </a:r>
          </a:p>
        </p:txBody>
      </p:sp>
      <p:sp>
        <p:nvSpPr>
          <p:cNvPr id="10" name="TextBox 9"/>
          <p:cNvSpPr txBox="1"/>
          <p:nvPr/>
        </p:nvSpPr>
        <p:spPr>
          <a:xfrm>
            <a:off x="768096" y="5001768"/>
            <a:ext cx="5029200" cy="102412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n shrinks at every level until the schoolbook base case at 16 limbs.</a:t>
            </a:r>
          </a:p>
        </p:txBody>
      </p:sp>
      <p:sp>
        <p:nvSpPr>
          <p:cNvPr id="11" name="Rounded Rectangle 10"/>
          <p:cNvSpPr/>
          <p:nvPr/>
        </p:nvSpPr>
        <p:spPr>
          <a:xfrm>
            <a:off x="6217920" y="4434840"/>
            <a:ext cx="5394960" cy="17373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4581144"/>
            <a:ext cx="502920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2   Scratch is known in advance</a:t>
            </a:r>
          </a:p>
        </p:txBody>
      </p:sp>
      <p:sp>
        <p:nvSpPr>
          <p:cNvPr id="13" name="TextBox 12"/>
          <p:cNvSpPr txBox="1"/>
          <p:nvPr/>
        </p:nvSpPr>
        <p:spPr>
          <a:xfrm>
            <a:off x="6419088" y="5001768"/>
            <a:ext cx="5029200" cy="102412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About 4n limbs, allocated once in setup, outside the timed region.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Why not the textbook sum?</a:t>
            </a:r>
          </a:p>
        </p:txBody>
      </p:sp>
      <p:sp>
        <p:nvSpPr>
          <p:cNvPr id="3" name="TextBox 2"/>
          <p:cNvSpPr txBox="1"/>
          <p:nvPr/>
        </p:nvSpPr>
        <p:spPr>
          <a:xfrm>
            <a:off x="566928" y="1051560"/>
            <a:ext cx="7315200" cy="365760"/>
          </a:xfrm>
          <a:prstGeom prst="rect">
            <a:avLst/>
          </a:prstGeom>
          <a:noFill/>
        </p:spPr>
        <p:txBody>
          <a:bodyPr wrap="square" lIns="0" rIns="0" tIns="0" bIns="0"/>
          <a:lstStyle/>
          <a:p>
            <a:pPr algn="l">
              <a:spcBef>
                <a:spcPts val="0"/>
              </a:spcBef>
              <a:spcAft>
                <a:spcPts val="200"/>
              </a:spcAft>
            </a:pPr>
            <a:r>
              <a:rPr sz="1800" b="0">
                <a:solidFill>
                  <a:srgbClr val="1F3660"/>
                </a:solidFill>
                <a:latin typeface="Calibri"/>
              </a:rPr>
              <a:t>Toy example in base 10. n = 3 digits, split at h = 2.</a:t>
            </a:r>
          </a:p>
        </p:txBody>
      </p:sp>
      <p:sp>
        <p:nvSpPr>
          <p:cNvPr id="4" name="TextBox 3"/>
          <p:cNvSpPr txBox="1"/>
          <p:nvPr/>
        </p:nvSpPr>
        <p:spPr>
          <a:xfrm>
            <a:off x="8503920" y="1005840"/>
            <a:ext cx="3108960" cy="411480"/>
          </a:xfrm>
          <a:prstGeom prst="rect">
            <a:avLst/>
          </a:prstGeom>
          <a:noFill/>
        </p:spPr>
        <p:txBody>
          <a:bodyPr wrap="square" lIns="0" rIns="0" tIns="0" bIns="0"/>
          <a:lstStyle/>
          <a:p>
            <a:pPr algn="r">
              <a:spcBef>
                <a:spcPts val="0"/>
              </a:spcBef>
              <a:spcAft>
                <a:spcPts val="200"/>
              </a:spcAft>
            </a:pPr>
            <a:r>
              <a:rPr sz="2000" b="1">
                <a:solidFill>
                  <a:srgbClr val="1F3660"/>
                </a:solidFill>
                <a:latin typeface="Calibri"/>
              </a:rPr>
              <a:t>999  =  9 | 99</a:t>
            </a:r>
          </a:p>
        </p:txBody>
      </p:sp>
      <p:sp>
        <p:nvSpPr>
          <p:cNvPr id="5" name="Rounded Rectangle 4"/>
          <p:cNvSpPr/>
          <p:nvPr/>
        </p:nvSpPr>
        <p:spPr>
          <a:xfrm>
            <a:off x="566928" y="1645920"/>
            <a:ext cx="5394960" cy="4114800"/>
          </a:xfrm>
          <a:prstGeom prst="roundRect">
            <a:avLst>
              <a:gd name="adj" fmla="val 10000"/>
            </a:avLst>
          </a:prstGeom>
          <a:solidFill>
            <a:srgbClr val="F4E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792224"/>
            <a:ext cx="5029200" cy="384048"/>
          </a:xfrm>
          <a:prstGeom prst="rect">
            <a:avLst/>
          </a:prstGeom>
          <a:noFill/>
        </p:spPr>
        <p:txBody>
          <a:bodyPr wrap="square" lIns="0" rIns="0" tIns="0" bIns="0"/>
          <a:lstStyle/>
          <a:p>
            <a:pPr algn="l">
              <a:spcBef>
                <a:spcPts val="0"/>
              </a:spcBef>
              <a:spcAft>
                <a:spcPts val="200"/>
              </a:spcAft>
            </a:pPr>
            <a:r>
              <a:rPr sz="1800" b="1">
                <a:solidFill>
                  <a:srgbClr val="B03030"/>
                </a:solidFill>
                <a:latin typeface="Calibri"/>
              </a:rPr>
              <a:t>X   Textbook: a0 + a1</a:t>
            </a:r>
          </a:p>
        </p:txBody>
      </p:sp>
      <p:sp>
        <p:nvSpPr>
          <p:cNvPr id="7" name="TextBox 6"/>
          <p:cNvSpPr txBox="1"/>
          <p:nvPr/>
        </p:nvSpPr>
        <p:spPr>
          <a:xfrm>
            <a:off x="768096" y="2212848"/>
            <a:ext cx="5029200" cy="340156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99 + 9 = 108.</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Three digits, as long as the original number.</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At n = 2 or 3, the recursion never shrinks.</a:t>
            </a:r>
          </a:p>
        </p:txBody>
      </p:sp>
      <p:sp>
        <p:nvSpPr>
          <p:cNvPr id="8" name="Rounded Rectangle 7"/>
          <p:cNvSpPr/>
          <p:nvPr/>
        </p:nvSpPr>
        <p:spPr>
          <a:xfrm>
            <a:off x="6217920" y="1645920"/>
            <a:ext cx="5394960" cy="4114800"/>
          </a:xfrm>
          <a:prstGeom prst="roundRect">
            <a:avLst>
              <a:gd name="adj" fmla="val 10000"/>
            </a:avLst>
          </a:prstGeom>
          <a:solidFill>
            <a:srgbClr val="E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792224"/>
            <a:ext cx="5029200" cy="384048"/>
          </a:xfrm>
          <a:prstGeom prst="rect">
            <a:avLst/>
          </a:prstGeom>
          <a:noFill/>
        </p:spPr>
        <p:txBody>
          <a:bodyPr wrap="square" lIns="0" rIns="0" tIns="0" bIns="0"/>
          <a:lstStyle/>
          <a:p>
            <a:pPr algn="l">
              <a:spcBef>
                <a:spcPts val="0"/>
              </a:spcBef>
              <a:spcAft>
                <a:spcPts val="200"/>
              </a:spcAft>
            </a:pPr>
            <a:r>
              <a:rPr sz="1800" b="1">
                <a:solidFill>
                  <a:srgbClr val="247A48"/>
                </a:solidFill>
                <a:latin typeface="Calibri"/>
              </a:rPr>
              <a:t>Ours: |a0 - a1|</a:t>
            </a:r>
          </a:p>
        </p:txBody>
      </p:sp>
      <p:sp>
        <p:nvSpPr>
          <p:cNvPr id="10" name="TextBox 9"/>
          <p:cNvSpPr txBox="1"/>
          <p:nvPr/>
        </p:nvSpPr>
        <p:spPr>
          <a:xfrm>
            <a:off x="6419088" y="2212848"/>
            <a:ext cx="5029200" cy="340156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|99 - 9| = 90.</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Fits in h digits. Both halves are below B^h.</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So every product stays smaller than n.</a:t>
            </a:r>
          </a:p>
        </p:txBody>
      </p:sp>
      <p:sp>
        <p:nvSpPr>
          <p:cNvPr id="11" name="TextBox 10"/>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GMP's own Karatsuba, mpn_toom22_mul, uses the same subtractive 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breaks if the sign test is flipped</a:t>
            </a:r>
          </a:p>
        </p:txBody>
      </p:sp>
      <p:sp>
        <p:nvSpPr>
          <p:cNvPr id="3" name="TextBox 2"/>
          <p:cNvSpPr txBox="1"/>
          <p:nvPr/>
        </p:nvSpPr>
        <p:spPr>
          <a:xfrm>
            <a:off x="566928" y="1051560"/>
            <a:ext cx="5486400" cy="1188720"/>
          </a:xfrm>
          <a:prstGeom prst="rect">
            <a:avLst/>
          </a:prstGeom>
          <a:noFill/>
        </p:spPr>
        <p:txBody>
          <a:bodyPr wrap="square" lIns="0" rIns="0" tIns="0" bIns="0"/>
          <a:lstStyle/>
          <a:p>
            <a:pPr algn="l">
              <a:spcBef>
                <a:spcPts val="0"/>
              </a:spcBef>
              <a:spcAft>
                <a:spcPts val="200"/>
              </a:spcAft>
            </a:pPr>
            <a:r>
              <a:rPr sz="6000" b="1">
                <a:solidFill>
                  <a:srgbClr val="B03030"/>
                </a:solidFill>
                <a:latin typeface="Calibri"/>
              </a:rPr>
              <a:t>34,757</a:t>
            </a:r>
          </a:p>
        </p:txBody>
      </p:sp>
      <p:sp>
        <p:nvSpPr>
          <p:cNvPr id="4" name="TextBox 3"/>
          <p:cNvSpPr txBox="1"/>
          <p:nvPr/>
        </p:nvSpPr>
        <p:spPr>
          <a:xfrm>
            <a:off x="566928" y="2240280"/>
            <a:ext cx="5669280" cy="82296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of 51,055 checks fail when one comparison is flipped.</a:t>
            </a:r>
          </a:p>
        </p:txBody>
      </p:sp>
      <p:sp>
        <p:nvSpPr>
          <p:cNvPr id="5" name="TextBox 4"/>
          <p:cNvSpPr txBox="1"/>
          <p:nvPr/>
        </p:nvSpPr>
        <p:spPr>
          <a:xfrm>
            <a:off x="566928" y="3200400"/>
            <a:ext cx="5669280" cy="1097280"/>
          </a:xfrm>
          <a:prstGeom prst="rect">
            <a:avLst/>
          </a:prstGeom>
          <a:noFill/>
        </p:spPr>
        <p:txBody>
          <a:bodyPr wrap="square" lIns="0" rIns="0" tIns="0" bIns="0"/>
          <a:lstStyle/>
          <a:p>
            <a:pPr algn="l">
              <a:spcBef>
                <a:spcPts val="0"/>
              </a:spcBef>
              <a:spcAft>
                <a:spcPts val="200"/>
              </a:spcAft>
            </a:pPr>
            <a:r>
              <a:rPr sz="3200" b="1">
                <a:solidFill>
                  <a:srgbClr val="1F3660"/>
                </a:solidFill>
                <a:latin typeface="Calibri"/>
              </a:rPr>
              <a:t>n at most 16</a:t>
            </a:r>
          </a:p>
          <a:p>
            <a:pPr algn="l">
              <a:spcBef>
                <a:spcPts val="0"/>
              </a:spcBef>
              <a:spcAft>
                <a:spcPts val="200"/>
              </a:spcAft>
            </a:pPr>
            <a:r>
              <a:rPr sz="3200" b="1">
                <a:solidFill>
                  <a:srgbClr val="1F3660"/>
                </a:solidFill>
                <a:latin typeface="Calibri"/>
              </a:rPr>
              <a:t>still all pass</a:t>
            </a:r>
          </a:p>
        </p:txBody>
      </p:sp>
      <p:sp>
        <p:nvSpPr>
          <p:cNvPr id="6" name="TextBox 5"/>
          <p:cNvSpPr txBox="1"/>
          <p:nvPr/>
        </p:nvSpPr>
        <p:spPr>
          <a:xfrm>
            <a:off x="566928" y="4572000"/>
            <a:ext cx="5669280" cy="1097280"/>
          </a:xfrm>
          <a:prstGeom prst="rect">
            <a:avLst/>
          </a:prstGeom>
          <a:noFill/>
        </p:spPr>
        <p:txBody>
          <a:bodyPr wrap="square" lIns="0" rIns="0" tIns="0" bIns="0"/>
          <a:lstStyle/>
          <a:p>
            <a:pPr algn="l">
              <a:spcBef>
                <a:spcPts val="0"/>
              </a:spcBef>
              <a:spcAft>
                <a:spcPts val="200"/>
              </a:spcAft>
            </a:pPr>
            <a:r>
              <a:rPr sz="1800" b="0">
                <a:solidFill>
                  <a:srgbClr val="1F3660"/>
                </a:solidFill>
                <a:latin typeface="Calibri"/>
              </a:rPr>
              <a:t>Those sizes are pure schoolbook, so a small test never reaches the bug.</a:t>
            </a:r>
          </a:p>
        </p:txBody>
      </p:sp>
      <p:sp>
        <p:nvSpPr>
          <p:cNvPr id="7" name="Rounded Rectangle 6"/>
          <p:cNvSpPr/>
          <p:nvPr/>
        </p:nvSpPr>
        <p:spPr>
          <a:xfrm>
            <a:off x="6492240" y="1188720"/>
            <a:ext cx="5120640" cy="420624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371600"/>
            <a:ext cx="4663440" cy="640080"/>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One real 17-limb product</a:t>
            </a:r>
          </a:p>
        </p:txBody>
      </p:sp>
      <p:sp>
        <p:nvSpPr>
          <p:cNvPr id="9" name="TextBox 8"/>
          <p:cNvSpPr txBox="1"/>
          <p:nvPr/>
        </p:nvSpPr>
        <p:spPr>
          <a:xfrm>
            <a:off x="6720840" y="2103120"/>
            <a:ext cx="4663440" cy="365760"/>
          </a:xfrm>
          <a:prstGeom prst="rect">
            <a:avLst/>
          </a:prstGeom>
          <a:noFill/>
        </p:spPr>
        <p:txBody>
          <a:bodyPr wrap="square" lIns="0" rIns="0" tIns="0" bIns="0"/>
          <a:lstStyle/>
          <a:p>
            <a:pPr algn="l">
              <a:spcBef>
                <a:spcPts val="0"/>
              </a:spcBef>
              <a:spcAft>
                <a:spcPts val="200"/>
              </a:spcAft>
            </a:pPr>
            <a:r>
              <a:rPr sz="1500" b="0">
                <a:solidFill>
                  <a:srgbClr val="5A687C"/>
                </a:solidFill>
                <a:latin typeface="Calibri"/>
              </a:rPr>
              <a:t>Most significant limb first. 34 limbs.</a:t>
            </a:r>
          </a:p>
        </p:txBody>
      </p:sp>
      <p:sp>
        <p:nvSpPr>
          <p:cNvPr id="10" name="TextBox 9"/>
          <p:cNvSpPr txBox="1"/>
          <p:nvPr/>
        </p:nvSpPr>
        <p:spPr>
          <a:xfrm>
            <a:off x="6720840" y="2651760"/>
            <a:ext cx="4663440" cy="640080"/>
          </a:xfrm>
          <a:prstGeom prst="rect">
            <a:avLst/>
          </a:prstGeom>
          <a:noFill/>
        </p:spPr>
        <p:txBody>
          <a:bodyPr wrap="square" lIns="0" rIns="0" tIns="0" bIns="0"/>
          <a:lstStyle/>
          <a:p>
            <a:pPr algn="l">
              <a:spcBef>
                <a:spcPts val="0"/>
              </a:spcBef>
              <a:spcAft>
                <a:spcPts val="200"/>
              </a:spcAft>
            </a:pPr>
            <a:r>
              <a:rPr sz="2200" b="1">
                <a:solidFill>
                  <a:srgbClr val="247A48"/>
                </a:solidFill>
                <a:latin typeface="Calibri"/>
              </a:rPr>
              <a:t>6 limbs right</a:t>
            </a:r>
          </a:p>
        </p:txBody>
      </p:sp>
      <p:sp>
        <p:nvSpPr>
          <p:cNvPr id="11" name="TextBox 10"/>
          <p:cNvSpPr txBox="1"/>
          <p:nvPr/>
        </p:nvSpPr>
        <p:spPr>
          <a:xfrm>
            <a:off x="6720840" y="3291840"/>
            <a:ext cx="4663440" cy="640080"/>
          </a:xfrm>
          <a:prstGeom prst="rect">
            <a:avLst/>
          </a:prstGeom>
          <a:noFill/>
        </p:spPr>
        <p:txBody>
          <a:bodyPr wrap="square" lIns="0" rIns="0" tIns="0" bIns="0"/>
          <a:lstStyle/>
          <a:p>
            <a:pPr algn="l">
              <a:spcBef>
                <a:spcPts val="0"/>
              </a:spcBef>
              <a:spcAft>
                <a:spcPts val="200"/>
              </a:spcAft>
            </a:pPr>
            <a:r>
              <a:rPr sz="2200" b="1">
                <a:solidFill>
                  <a:srgbClr val="B03030"/>
                </a:solidFill>
                <a:latin typeface="Calibri"/>
              </a:rPr>
              <a:t>19 limbs wrong</a:t>
            </a:r>
          </a:p>
        </p:txBody>
      </p:sp>
      <p:sp>
        <p:nvSpPr>
          <p:cNvPr id="12" name="TextBox 11"/>
          <p:cNvSpPr txBox="1"/>
          <p:nvPr/>
        </p:nvSpPr>
        <p:spPr>
          <a:xfrm>
            <a:off x="6720840" y="4023360"/>
            <a:ext cx="4663440" cy="822960"/>
          </a:xfrm>
          <a:prstGeom prst="rect">
            <a:avLst/>
          </a:prstGeom>
          <a:noFill/>
        </p:spPr>
        <p:txBody>
          <a:bodyPr wrap="square" lIns="0" rIns="0" tIns="0" bIns="0"/>
          <a:lstStyle/>
          <a:p>
            <a:pPr algn="l">
              <a:spcBef>
                <a:spcPts val="0"/>
              </a:spcBef>
              <a:spcAft>
                <a:spcPts val="200"/>
              </a:spcAft>
            </a:pPr>
            <a:r>
              <a:rPr sz="2200" b="1">
                <a:solidFill>
                  <a:srgbClr val="247A48"/>
                </a:solidFill>
                <a:latin typeface="Calibri"/>
              </a:rPr>
              <a:t>9 limbs right</a:t>
            </a:r>
          </a:p>
        </p:txBody>
      </p:sp>
      <p:sp>
        <p:nvSpPr>
          <p:cNvPr id="13" name="TextBox 12"/>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Same sign means subtract the middle product. Opposite signs mean add it. The wrong choice still prints a normal-looking number.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Where the base case should sit</a:t>
            </a:r>
          </a:p>
        </p:txBody>
      </p:sp>
      <p:sp>
        <p:nvSpPr>
          <p:cNvPr id="3" name="Rounded Rectangle 2"/>
          <p:cNvSpPr/>
          <p:nvPr/>
        </p:nvSpPr>
        <p:spPr>
          <a:xfrm>
            <a:off x="566928" y="1143000"/>
            <a:ext cx="3566160" cy="4709160"/>
          </a:xfrm>
          <a:prstGeom prst="roundRect">
            <a:avLst>
              <a:gd name="adj" fmla="val 10000"/>
            </a:avLst>
          </a:prstGeom>
          <a:solidFill>
            <a:srgbClr val="F4E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289304"/>
            <a:ext cx="3200400" cy="384048"/>
          </a:xfrm>
          <a:prstGeom prst="rect">
            <a:avLst/>
          </a:prstGeom>
          <a:noFill/>
        </p:spPr>
        <p:txBody>
          <a:bodyPr wrap="square" lIns="0" rIns="0" tIns="0" bIns="0"/>
          <a:lstStyle/>
          <a:p>
            <a:pPr algn="l">
              <a:spcBef>
                <a:spcPts val="0"/>
              </a:spcBef>
              <a:spcAft>
                <a:spcPts val="200"/>
              </a:spcAft>
            </a:pPr>
            <a:r>
              <a:rPr sz="1800" b="1">
                <a:solidFill>
                  <a:srgbClr val="B03030"/>
                </a:solidFill>
                <a:latin typeface="Calibri"/>
              </a:rPr>
              <a:t>Threshold 1</a:t>
            </a:r>
          </a:p>
        </p:txBody>
      </p:sp>
      <p:sp>
        <p:nvSpPr>
          <p:cNvPr id="5" name="TextBox 4"/>
          <p:cNvSpPr txBox="1"/>
          <p:nvPr/>
        </p:nvSpPr>
        <p:spPr>
          <a:xfrm>
            <a:off x="768096" y="1709928"/>
            <a:ext cx="3200400" cy="399592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Recursing to one limb is about 4 to 6 times slower.</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Geometric mean about 5.2 times the best cutoff.</a:t>
            </a:r>
          </a:p>
        </p:txBody>
      </p:sp>
      <p:sp>
        <p:nvSpPr>
          <p:cNvPr id="6" name="Rounded Rectangle 5"/>
          <p:cNvSpPr/>
          <p:nvPr/>
        </p:nvSpPr>
        <p:spPr>
          <a:xfrm>
            <a:off x="4315968" y="1143000"/>
            <a:ext cx="3566160" cy="4709160"/>
          </a:xfrm>
          <a:prstGeom prst="roundRect">
            <a:avLst>
              <a:gd name="adj" fmla="val 10000"/>
            </a:avLst>
          </a:prstGeom>
          <a:solidFill>
            <a:srgbClr val="E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289304"/>
            <a:ext cx="3200400" cy="384048"/>
          </a:xfrm>
          <a:prstGeom prst="rect">
            <a:avLst/>
          </a:prstGeom>
          <a:noFill/>
        </p:spPr>
        <p:txBody>
          <a:bodyPr wrap="square" lIns="0" rIns="0" tIns="0" bIns="0"/>
          <a:lstStyle/>
          <a:p>
            <a:pPr algn="l">
              <a:spcBef>
                <a:spcPts val="0"/>
              </a:spcBef>
              <a:spcAft>
                <a:spcPts val="200"/>
              </a:spcAft>
            </a:pPr>
            <a:r>
              <a:rPr sz="1800" b="1">
                <a:solidFill>
                  <a:srgbClr val="247A48"/>
                </a:solidFill>
                <a:latin typeface="Calibri"/>
              </a:rPr>
              <a:t>Threshold 14 to 28</a:t>
            </a:r>
          </a:p>
        </p:txBody>
      </p:sp>
      <p:sp>
        <p:nvSpPr>
          <p:cNvPr id="8" name="TextBox 7"/>
          <p:cNvSpPr txBox="1"/>
          <p:nvPr/>
        </p:nvSpPr>
        <p:spPr>
          <a:xfrm>
            <a:off x="4517136" y="1709928"/>
            <a:ext cx="3200400" cy="399592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Within about 3 percent of the best cutoff on the i9 sweep.</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 code uses 16.</a:t>
            </a:r>
          </a:p>
        </p:txBody>
      </p:sp>
      <p:sp>
        <p:nvSpPr>
          <p:cNvPr id="9" name="Rounded Rectangle 8"/>
          <p:cNvSpPr/>
          <p:nvPr/>
        </p:nvSpPr>
        <p:spPr>
          <a:xfrm>
            <a:off x="8065008" y="1143000"/>
            <a:ext cx="3566160" cy="47091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6" y="1289304"/>
            <a:ext cx="320040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Crossover</a:t>
            </a:r>
          </a:p>
        </p:txBody>
      </p:sp>
      <p:sp>
        <p:nvSpPr>
          <p:cNvPr id="11" name="TextBox 10"/>
          <p:cNvSpPr txBox="1"/>
          <p:nvPr/>
        </p:nvSpPr>
        <p:spPr>
          <a:xfrm>
            <a:off x="8266176" y="1709928"/>
            <a:ext cx="3200400" cy="399592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On his i9 grid, schoolbook is still ahead at 16 limbs.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Karatsuba is ahead at 24.</a:t>
            </a:r>
          </a:p>
          <a:p>
            <a:pPr algn="l">
              <a:spcBef>
                <a:spcPts val="0"/>
              </a:spcBef>
              <a:spcAft>
                <a:spcPts val="200"/>
              </a:spcAft>
            </a:pPr>
            <a:r>
              <a:rPr sz="1600" b="0">
                <a:solidFill>
                  <a:srgbClr val="1F3660"/>
                </a:solidFill>
                <a:latin typeface="Calibri"/>
              </a:rPr>
              <a:t>He measured the first win near 18 limbs.</a:t>
            </a:r>
          </a:p>
        </p:txBody>
      </p:sp>
      <p:sp>
        <p:nvSpPr>
          <p:cNvPr id="12" name="TextBox 11"/>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i9-13900H, GMP 6.2.1. These cutoff numbers are that study, separate from the Ryzen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3660"/>
        </a:solidFill>
        <a:effectLst/>
      </p:bgPr>
    </p:bg>
    <p:spTree>
      <p:nvGrpSpPr>
        <p:cNvPr id="1" name=""/>
        <p:cNvGrpSpPr/>
        <p:nvPr/>
      </p:nvGrpSpPr>
      <p:grpSpPr/>
      <p:sp>
        <p:nvSpPr>
          <p:cNvPr id="2" name="TextBox 1"/>
          <p:cNvSpPr txBox="1"/>
          <p:nvPr/>
        </p:nvSpPr>
        <p:spPr>
          <a:xfrm>
            <a:off x="685800" y="658368"/>
            <a:ext cx="10058400" cy="292608"/>
          </a:xfrm>
          <a:prstGeom prst="rect">
            <a:avLst/>
          </a:prstGeom>
          <a:noFill/>
        </p:spPr>
        <p:txBody>
          <a:bodyPr wrap="square" lIns="0" rIns="0" tIns="0" bIns="0"/>
          <a:lstStyle/>
          <a:p>
            <a:pPr algn="l">
              <a:spcBef>
                <a:spcPts val="0"/>
              </a:spcBef>
              <a:spcAft>
                <a:spcPts val="200"/>
              </a:spcAft>
            </a:pPr>
            <a:r>
              <a:rPr sz="1600" b="1">
                <a:solidFill>
                  <a:srgbClr val="D47523"/>
                </a:solidFill>
                <a:latin typeface="Calibri"/>
              </a:rPr>
              <a:t>PER-ALGORITHM DEEP DIVE</a:t>
            </a:r>
          </a:p>
        </p:txBody>
      </p:sp>
      <p:sp>
        <p:nvSpPr>
          <p:cNvPr id="3" name="TextBox 2"/>
          <p:cNvSpPr txBox="1"/>
          <p:nvPr/>
        </p:nvSpPr>
        <p:spPr>
          <a:xfrm>
            <a:off x="658368" y="1097280"/>
            <a:ext cx="10972800" cy="1051560"/>
          </a:xfrm>
          <a:prstGeom prst="rect">
            <a:avLst/>
          </a:prstGeom>
          <a:noFill/>
        </p:spPr>
        <p:txBody>
          <a:bodyPr wrap="square" lIns="0" rIns="0" tIns="0" bIns="0"/>
          <a:lstStyle/>
          <a:p>
            <a:pPr algn="l">
              <a:spcBef>
                <a:spcPts val="0"/>
              </a:spcBef>
              <a:spcAft>
                <a:spcPts val="200"/>
              </a:spcAft>
            </a:pPr>
            <a:r>
              <a:rPr sz="4800" b="1">
                <a:solidFill>
                  <a:srgbClr val="FFFFFF"/>
                </a:solidFill>
                <a:latin typeface="Calibri"/>
              </a:rPr>
              <a:t>Complex FFT</a:t>
            </a:r>
          </a:p>
        </p:txBody>
      </p:sp>
      <p:sp>
        <p:nvSpPr>
          <p:cNvPr id="4" name="TextBox 3"/>
          <p:cNvSpPr txBox="1"/>
          <p:nvPr/>
        </p:nvSpPr>
        <p:spPr>
          <a:xfrm>
            <a:off x="685800" y="2240280"/>
            <a:ext cx="10515600" cy="502920"/>
          </a:xfrm>
          <a:prstGeom prst="rect">
            <a:avLst/>
          </a:prstGeom>
          <a:noFill/>
        </p:spPr>
        <p:txBody>
          <a:bodyPr wrap="square" lIns="0" rIns="0" tIns="0" bIns="0"/>
          <a:lstStyle/>
          <a:p>
            <a:pPr algn="l">
              <a:spcBef>
                <a:spcPts val="0"/>
              </a:spcBef>
              <a:spcAft>
                <a:spcPts val="200"/>
              </a:spcAft>
            </a:pPr>
            <a:r>
              <a:rPr sz="2200" b="0">
                <a:solidFill>
                  <a:srgbClr val="B6C5DB"/>
                </a:solidFill>
                <a:latin typeface="Calibri"/>
              </a:rPr>
              <a:t>The digit width is the case. A one-unit rounding error breaks the carry.</a:t>
            </a:r>
          </a:p>
        </p:txBody>
      </p:sp>
      <p:sp>
        <p:nvSpPr>
          <p:cNvPr id="5" name="Rounded Rectangle 4"/>
          <p:cNvSpPr/>
          <p:nvPr/>
        </p:nvSpPr>
        <p:spPr>
          <a:xfrm>
            <a:off x="685800" y="3200400"/>
            <a:ext cx="1965960" cy="960120"/>
          </a:xfrm>
          <a:prstGeom prst="roundRect">
            <a:avLst>
              <a:gd name="adj" fmla="val 12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429000"/>
            <a:ext cx="1965960" cy="502920"/>
          </a:xfrm>
          <a:prstGeom prst="rect">
            <a:avLst/>
          </a:prstGeom>
          <a:noFill/>
        </p:spPr>
        <p:txBody>
          <a:bodyPr wrap="square" lIns="0" rIns="0" tIns="0" bIns="0"/>
          <a:lstStyle/>
          <a:p>
            <a:pPr algn="ctr">
              <a:spcBef>
                <a:spcPts val="0"/>
              </a:spcBef>
              <a:spcAft>
                <a:spcPts val="200"/>
              </a:spcAft>
            </a:pPr>
            <a:r>
              <a:rPr sz="1600" b="1">
                <a:solidFill>
                  <a:srgbClr val="1F3660"/>
                </a:solidFill>
                <a:latin typeface="Calibri"/>
              </a:rPr>
              <a:t>16-bit digits</a:t>
            </a:r>
          </a:p>
        </p:txBody>
      </p:sp>
      <p:sp>
        <p:nvSpPr>
          <p:cNvPr id="7" name="Rounded Rectangle 6"/>
          <p:cNvSpPr/>
          <p:nvPr/>
        </p:nvSpPr>
        <p:spPr>
          <a:xfrm>
            <a:off x="2880360" y="3200400"/>
            <a:ext cx="1965960" cy="960120"/>
          </a:xfrm>
          <a:prstGeom prst="roundRect">
            <a:avLst>
              <a:gd name="adj" fmla="val 12000"/>
            </a:avLst>
          </a:prstGeom>
          <a:solidFill>
            <a:srgbClr val="D47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3429000"/>
            <a:ext cx="1965960" cy="50292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8-bit past 2048</a:t>
            </a:r>
          </a:p>
        </p:txBody>
      </p:sp>
      <p:sp>
        <p:nvSpPr>
          <p:cNvPr id="9" name="TextBox 8"/>
          <p:cNvSpPr txBox="1"/>
          <p:nvPr/>
        </p:nvSpPr>
        <p:spPr>
          <a:xfrm>
            <a:off x="685800" y="5852160"/>
            <a:ext cx="10515600" cy="365760"/>
          </a:xfrm>
          <a:prstGeom prst="rect">
            <a:avLst/>
          </a:prstGeom>
          <a:noFill/>
        </p:spPr>
        <p:txBody>
          <a:bodyPr wrap="square" lIns="0" rIns="0" tIns="0" bIns="0"/>
          <a:lstStyle/>
          <a:p>
            <a:pPr algn="l">
              <a:spcBef>
                <a:spcPts val="0"/>
              </a:spcBef>
              <a:spcAft>
                <a:spcPts val="200"/>
              </a:spcAft>
            </a:pPr>
            <a:r>
              <a:rPr sz="1600" b="0">
                <a:solidFill>
                  <a:srgbClr val="B6C5DB"/>
                </a:solidFill>
                <a:latin typeface="Calibri"/>
              </a:rPr>
              <a:t>Code/FftMul.c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Why the digit width changes</a:t>
            </a:r>
          </a:p>
        </p:txBody>
      </p:sp>
      <p:sp>
        <p:nvSpPr>
          <p:cNvPr id="3" name="Rounded Rectangle 2"/>
          <p:cNvSpPr/>
          <p:nvPr/>
        </p:nvSpPr>
        <p:spPr>
          <a:xfrm>
            <a:off x="566928" y="1143000"/>
            <a:ext cx="5486400" cy="4709160"/>
          </a:xfrm>
          <a:prstGeom prst="roundRect">
            <a:avLst>
              <a:gd name="adj" fmla="val 10000"/>
            </a:avLst>
          </a:prstGeom>
          <a:solidFill>
            <a:srgbClr val="E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289304"/>
            <a:ext cx="5120640" cy="384048"/>
          </a:xfrm>
          <a:prstGeom prst="rect">
            <a:avLst/>
          </a:prstGeom>
          <a:noFill/>
        </p:spPr>
        <p:txBody>
          <a:bodyPr wrap="square" lIns="0" rIns="0" tIns="0" bIns="0"/>
          <a:lstStyle/>
          <a:p>
            <a:pPr algn="l">
              <a:spcBef>
                <a:spcPts val="0"/>
              </a:spcBef>
              <a:spcAft>
                <a:spcPts val="200"/>
              </a:spcAft>
            </a:pPr>
            <a:r>
              <a:rPr sz="1800" b="1">
                <a:solidFill>
                  <a:srgbClr val="247A48"/>
                </a:solidFill>
                <a:latin typeface="Calibri"/>
              </a:rPr>
              <a:t>n at most 2048 limbs</a:t>
            </a:r>
          </a:p>
        </p:txBody>
      </p:sp>
      <p:sp>
        <p:nvSpPr>
          <p:cNvPr id="5" name="TextBox 4"/>
          <p:cNvSpPr txBox="1"/>
          <p:nvPr/>
        </p:nvSpPr>
        <p:spPr>
          <a:xfrm>
            <a:off x="768096" y="1709928"/>
            <a:ext cx="5120640" cy="399592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16-bit digits.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A double can still round back to the exact integer coefficient.</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FftMul.c sets digitBits to 16.</a:t>
            </a:r>
          </a:p>
        </p:txBody>
      </p:sp>
      <p:sp>
        <p:nvSpPr>
          <p:cNvPr id="6" name="Rounded Rectangle 5"/>
          <p:cNvSpPr/>
          <p:nvPr/>
        </p:nvSpPr>
        <p:spPr>
          <a:xfrm>
            <a:off x="6263640" y="1143000"/>
            <a:ext cx="5486400" cy="4709160"/>
          </a:xfrm>
          <a:prstGeom prst="roundRect">
            <a:avLst>
              <a:gd name="adj" fmla="val 10000"/>
            </a:avLst>
          </a:prstGeom>
          <a:solidFill>
            <a:srgbClr val="F4E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7" y="1289304"/>
            <a:ext cx="5120640" cy="384048"/>
          </a:xfrm>
          <a:prstGeom prst="rect">
            <a:avLst/>
          </a:prstGeom>
          <a:noFill/>
        </p:spPr>
        <p:txBody>
          <a:bodyPr wrap="square" lIns="0" rIns="0" tIns="0" bIns="0"/>
          <a:lstStyle/>
          <a:p>
            <a:pPr algn="l">
              <a:spcBef>
                <a:spcPts val="0"/>
              </a:spcBef>
              <a:spcAft>
                <a:spcPts val="200"/>
              </a:spcAft>
            </a:pPr>
            <a:r>
              <a:rPr sz="1800" b="1">
                <a:solidFill>
                  <a:srgbClr val="B03030"/>
                </a:solidFill>
                <a:latin typeface="Calibri"/>
              </a:rPr>
              <a:t>n above 2048 limbs</a:t>
            </a:r>
          </a:p>
        </p:txBody>
      </p:sp>
      <p:sp>
        <p:nvSpPr>
          <p:cNvPr id="8" name="TextBox 7"/>
          <p:cNvSpPr txBox="1"/>
          <p:nvPr/>
        </p:nvSpPr>
        <p:spPr>
          <a:xfrm>
            <a:off x="6464807" y="1709928"/>
            <a:ext cx="5120640" cy="399592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8-bit digits.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 coefficients would overflow the safe range of a double if we stayed at 16 bits.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 transform gets longer, because each limb is now more digits.</a:t>
            </a:r>
          </a:p>
        </p:txBody>
      </p:sp>
      <p:sp>
        <p:nvSpPr>
          <p:cNvPr id="9" name="TextBox 8"/>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Invariant: after the inverse FFT, each bucket rounds to the exact convolution coefficient.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that width does to the times</a:t>
            </a:r>
          </a:p>
        </p:txBody>
      </p:sp>
      <p:sp>
        <p:nvSpPr>
          <p:cNvPr id="3" name="TextBox 2"/>
          <p:cNvSpPr txBox="1"/>
          <p:nvPr/>
        </p:nvSpPr>
        <p:spPr>
          <a:xfrm>
            <a:off x="566928" y="1097280"/>
            <a:ext cx="10972800" cy="64008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i9 grid. FFT only. These two rows are the 8-bit switch.</a:t>
            </a:r>
          </a:p>
        </p:txBody>
      </p:sp>
      <p:sp>
        <p:nvSpPr>
          <p:cNvPr id="4" name="Rounded Rectangle 3"/>
          <p:cNvSpPr/>
          <p:nvPr/>
        </p:nvSpPr>
        <p:spPr>
          <a:xfrm>
            <a:off x="566928" y="1965960"/>
            <a:ext cx="11064240" cy="210312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3200400" cy="45720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2,048 limbs</a:t>
            </a:r>
          </a:p>
        </p:txBody>
      </p:sp>
      <p:sp>
        <p:nvSpPr>
          <p:cNvPr id="6" name="TextBox 5"/>
          <p:cNvSpPr txBox="1"/>
          <p:nvPr/>
        </p:nvSpPr>
        <p:spPr>
          <a:xfrm>
            <a:off x="4023360" y="2194560"/>
            <a:ext cx="3200400" cy="457200"/>
          </a:xfrm>
          <a:prstGeom prst="rect">
            <a:avLst/>
          </a:prstGeom>
          <a:noFill/>
        </p:spPr>
        <p:txBody>
          <a:bodyPr wrap="square" lIns="0" rIns="0" tIns="0" bIns="0"/>
          <a:lstStyle/>
          <a:p>
            <a:pPr algn="l">
              <a:spcBef>
                <a:spcPts val="0"/>
              </a:spcBef>
              <a:spcAft>
                <a:spcPts val="200"/>
              </a:spcAft>
            </a:pPr>
            <a:r>
              <a:rPr sz="2800" b="1">
                <a:solidFill>
                  <a:srgbClr val="247A48"/>
                </a:solidFill>
                <a:latin typeface="Calibri"/>
              </a:rPr>
              <a:t>832 us</a:t>
            </a:r>
          </a:p>
        </p:txBody>
      </p:sp>
      <p:sp>
        <p:nvSpPr>
          <p:cNvPr id="7" name="TextBox 6"/>
          <p:cNvSpPr txBox="1"/>
          <p:nvPr/>
        </p:nvSpPr>
        <p:spPr>
          <a:xfrm>
            <a:off x="7498079" y="2194560"/>
            <a:ext cx="3657600" cy="457200"/>
          </a:xfrm>
          <a:prstGeom prst="rect">
            <a:avLst/>
          </a:prstGeom>
          <a:noFill/>
        </p:spPr>
        <p:txBody>
          <a:bodyPr wrap="square" lIns="0" rIns="0" tIns="0" bIns="0"/>
          <a:lstStyle/>
          <a:p>
            <a:pPr algn="l">
              <a:spcBef>
                <a:spcPts val="0"/>
              </a:spcBef>
              <a:spcAft>
                <a:spcPts val="200"/>
              </a:spcAft>
            </a:pPr>
            <a:r>
              <a:rPr sz="1800" b="0">
                <a:solidFill>
                  <a:srgbClr val="5A687C"/>
                </a:solidFill>
                <a:latin typeface="Calibri"/>
              </a:rPr>
              <a:t>still 16-bit digits</a:t>
            </a:r>
          </a:p>
        </p:txBody>
      </p:sp>
      <p:sp>
        <p:nvSpPr>
          <p:cNvPr id="8" name="TextBox 7"/>
          <p:cNvSpPr txBox="1"/>
          <p:nvPr/>
        </p:nvSpPr>
        <p:spPr>
          <a:xfrm>
            <a:off x="822960" y="3108960"/>
            <a:ext cx="3200400" cy="45720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3,072 limbs</a:t>
            </a:r>
          </a:p>
        </p:txBody>
      </p:sp>
      <p:sp>
        <p:nvSpPr>
          <p:cNvPr id="9" name="TextBox 8"/>
          <p:cNvSpPr txBox="1"/>
          <p:nvPr/>
        </p:nvSpPr>
        <p:spPr>
          <a:xfrm>
            <a:off x="4023360" y="3108960"/>
            <a:ext cx="3200400" cy="457200"/>
          </a:xfrm>
          <a:prstGeom prst="rect">
            <a:avLst/>
          </a:prstGeom>
          <a:noFill/>
        </p:spPr>
        <p:txBody>
          <a:bodyPr wrap="square" lIns="0" rIns="0" tIns="0" bIns="0"/>
          <a:lstStyle/>
          <a:p>
            <a:pPr algn="l">
              <a:spcBef>
                <a:spcPts val="0"/>
              </a:spcBef>
              <a:spcAft>
                <a:spcPts val="200"/>
              </a:spcAft>
            </a:pPr>
            <a:r>
              <a:rPr sz="2800" b="1">
                <a:solidFill>
                  <a:srgbClr val="B03030"/>
                </a:solidFill>
                <a:latin typeface="Calibri"/>
              </a:rPr>
              <a:t>3,828 us</a:t>
            </a:r>
          </a:p>
        </p:txBody>
      </p:sp>
      <p:sp>
        <p:nvSpPr>
          <p:cNvPr id="10" name="TextBox 9"/>
          <p:cNvSpPr txBox="1"/>
          <p:nvPr/>
        </p:nvSpPr>
        <p:spPr>
          <a:xfrm>
            <a:off x="7498079" y="3108960"/>
            <a:ext cx="3657600" cy="457200"/>
          </a:xfrm>
          <a:prstGeom prst="rect">
            <a:avLst/>
          </a:prstGeom>
          <a:noFill/>
        </p:spPr>
        <p:txBody>
          <a:bodyPr wrap="square" lIns="0" rIns="0" tIns="0" bIns="0"/>
          <a:lstStyle/>
          <a:p>
            <a:pPr algn="l">
              <a:spcBef>
                <a:spcPts val="0"/>
              </a:spcBef>
              <a:spcAft>
                <a:spcPts val="200"/>
              </a:spcAft>
            </a:pPr>
            <a:r>
              <a:rPr sz="1800" b="0">
                <a:solidFill>
                  <a:srgbClr val="5A687C"/>
                </a:solidFill>
                <a:latin typeface="Calibri"/>
              </a:rPr>
              <a:t>now 8-bit digits</a:t>
            </a:r>
          </a:p>
        </p:txBody>
      </p:sp>
      <p:sp>
        <p:nvSpPr>
          <p:cNvPr id="11" name="TextBox 10"/>
          <p:cNvSpPr txBox="1"/>
          <p:nvPr/>
        </p:nvSpPr>
        <p:spPr>
          <a:xfrm>
            <a:off x="566928" y="4389120"/>
            <a:ext cx="10972800" cy="137160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The size grew by half. The time grew by about 4.6 times. Padding to the next power of two is also why the FFT time can sit flat across a band of sizes, then jump.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660"/>
        </a:solidFill>
        <a:effectLst/>
      </p:bgPr>
    </p:bg>
    <p:spTree>
      <p:nvGrpSpPr>
        <p:cNvPr id="1" name=""/>
        <p:cNvGrpSpPr/>
        <p:nvPr/>
      </p:nvGrpSpPr>
      <p:grpSpPr/>
      <p:sp>
        <p:nvSpPr>
          <p:cNvPr id="2" name="TextBox 1"/>
          <p:cNvSpPr txBox="1"/>
          <p:nvPr/>
        </p:nvSpPr>
        <p:spPr>
          <a:xfrm>
            <a:off x="685800" y="658368"/>
            <a:ext cx="10058400" cy="292608"/>
          </a:xfrm>
          <a:prstGeom prst="rect">
            <a:avLst/>
          </a:prstGeom>
          <a:noFill/>
        </p:spPr>
        <p:txBody>
          <a:bodyPr wrap="square" lIns="0" rIns="0" tIns="0" bIns="0"/>
          <a:lstStyle/>
          <a:p>
            <a:pPr algn="l">
              <a:spcBef>
                <a:spcPts val="0"/>
              </a:spcBef>
              <a:spcAft>
                <a:spcPts val="200"/>
              </a:spcAft>
            </a:pPr>
            <a:r>
              <a:rPr sz="1600" b="1">
                <a:solidFill>
                  <a:srgbClr val="D47523"/>
                </a:solidFill>
                <a:latin typeface="Calibri"/>
              </a:rPr>
              <a:t>PER-ALGORITHM DEEP DIVE</a:t>
            </a:r>
          </a:p>
        </p:txBody>
      </p:sp>
      <p:sp>
        <p:nvSpPr>
          <p:cNvPr id="3" name="TextBox 2"/>
          <p:cNvSpPr txBox="1"/>
          <p:nvPr/>
        </p:nvSpPr>
        <p:spPr>
          <a:xfrm>
            <a:off x="658368" y="1097280"/>
            <a:ext cx="10972800" cy="1051560"/>
          </a:xfrm>
          <a:prstGeom prst="rect">
            <a:avLst/>
          </a:prstGeom>
          <a:noFill/>
        </p:spPr>
        <p:txBody>
          <a:bodyPr wrap="square" lIns="0" rIns="0" tIns="0" bIns="0"/>
          <a:lstStyle/>
          <a:p>
            <a:pPr algn="l">
              <a:spcBef>
                <a:spcPts val="0"/>
              </a:spcBef>
              <a:spcAft>
                <a:spcPts val="200"/>
              </a:spcAft>
            </a:pPr>
            <a:r>
              <a:rPr sz="4800" b="1">
                <a:solidFill>
                  <a:srgbClr val="FFFFFF"/>
                </a:solidFill>
                <a:latin typeface="Calibri"/>
              </a:rPr>
              <a:t>OpenAI digit multiplication</a:t>
            </a:r>
          </a:p>
        </p:txBody>
      </p:sp>
      <p:sp>
        <p:nvSpPr>
          <p:cNvPr id="4" name="TextBox 3"/>
          <p:cNvSpPr txBox="1"/>
          <p:nvPr/>
        </p:nvSpPr>
        <p:spPr>
          <a:xfrm>
            <a:off x="685800" y="2240280"/>
            <a:ext cx="10515600" cy="502920"/>
          </a:xfrm>
          <a:prstGeom prst="rect">
            <a:avLst/>
          </a:prstGeom>
          <a:noFill/>
        </p:spPr>
        <p:txBody>
          <a:bodyPr wrap="square" lIns="0" rIns="0" tIns="0" bIns="0"/>
          <a:lstStyle/>
          <a:p>
            <a:pPr algn="l">
              <a:spcBef>
                <a:spcPts val="0"/>
              </a:spcBef>
              <a:spcAft>
                <a:spcPts val="200"/>
              </a:spcAft>
            </a:pPr>
            <a:r>
              <a:rPr sz="2200" b="0">
                <a:solidFill>
                  <a:srgbClr val="B6C5DB"/>
                </a:solidFill>
                <a:latin typeface="Calibri"/>
              </a:rPr>
              <a:t>The invariant, the case it forces, and what breaks without it</a:t>
            </a:r>
          </a:p>
        </p:txBody>
      </p:sp>
      <p:sp>
        <p:nvSpPr>
          <p:cNvPr id="5" name="Rounded Rectangle 4"/>
          <p:cNvSpPr/>
          <p:nvPr/>
        </p:nvSpPr>
        <p:spPr>
          <a:xfrm>
            <a:off x="685800" y="3200400"/>
            <a:ext cx="1965960" cy="960120"/>
          </a:xfrm>
          <a:prstGeom prst="roundRect">
            <a:avLst>
              <a:gd name="adj" fmla="val 12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429000"/>
            <a:ext cx="1965960" cy="502920"/>
          </a:xfrm>
          <a:prstGeom prst="rect">
            <a:avLst/>
          </a:prstGeom>
          <a:noFill/>
        </p:spPr>
        <p:txBody>
          <a:bodyPr wrap="square" lIns="0" rIns="0" tIns="0" bIns="0"/>
          <a:lstStyle/>
          <a:p>
            <a:pPr algn="ctr">
              <a:spcBef>
                <a:spcPts val="0"/>
              </a:spcBef>
              <a:spcAft>
                <a:spcPts val="200"/>
              </a:spcAft>
            </a:pPr>
            <a:r>
              <a:rPr sz="1600" b="1">
                <a:solidFill>
                  <a:srgbClr val="1F3660"/>
                </a:solidFill>
                <a:latin typeface="Calibri"/>
              </a:rPr>
              <a:t>digit 3  high</a:t>
            </a:r>
          </a:p>
        </p:txBody>
      </p:sp>
      <p:sp>
        <p:nvSpPr>
          <p:cNvPr id="7" name="Rounded Rectangle 6"/>
          <p:cNvSpPr/>
          <p:nvPr/>
        </p:nvSpPr>
        <p:spPr>
          <a:xfrm>
            <a:off x="2880360" y="3200400"/>
            <a:ext cx="1965960" cy="960120"/>
          </a:xfrm>
          <a:prstGeom prst="roundRect">
            <a:avLst>
              <a:gd name="adj" fmla="val 12000"/>
            </a:avLst>
          </a:prstGeom>
          <a:solidFill>
            <a:srgbClr val="D475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3429000"/>
            <a:ext cx="1965960" cy="50292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digit 0  low</a:t>
            </a:r>
          </a:p>
        </p:txBody>
      </p:sp>
      <p:sp>
        <p:nvSpPr>
          <p:cNvPr id="9" name="TextBox 8"/>
          <p:cNvSpPr txBox="1"/>
          <p:nvPr/>
        </p:nvSpPr>
        <p:spPr>
          <a:xfrm>
            <a:off x="685800" y="5852160"/>
            <a:ext cx="10515600" cy="365760"/>
          </a:xfrm>
          <a:prstGeom prst="rect">
            <a:avLst/>
          </a:prstGeom>
          <a:noFill/>
        </p:spPr>
        <p:txBody>
          <a:bodyPr wrap="square" lIns="0" rIns="0" tIns="0" bIns="0"/>
          <a:lstStyle/>
          <a:p>
            <a:pPr algn="l">
              <a:spcBef>
                <a:spcPts val="0"/>
              </a:spcBef>
              <a:spcAft>
                <a:spcPts val="200"/>
              </a:spcAft>
            </a:pPr>
            <a:r>
              <a:rPr sz="1600" b="0">
                <a:solidFill>
                  <a:srgbClr val="B6C5DB"/>
                </a:solidFill>
                <a:latin typeface="Calibri"/>
              </a:rPr>
              <a:t>Code/OpenAiMul.c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Sixteen-bit digits, one convolution</a:t>
            </a:r>
          </a:p>
        </p:txBody>
      </p:sp>
      <p:sp>
        <p:nvSpPr>
          <p:cNvPr id="3" name="TextBox 2"/>
          <p:cNvSpPr txBox="1"/>
          <p:nvPr/>
        </p:nvSpPr>
        <p:spPr>
          <a:xfrm>
            <a:off x="566928" y="1051560"/>
            <a:ext cx="6675120" cy="118872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Each 64-bit limb splits into four digits, low digit first.</a:t>
            </a:r>
          </a:p>
          <a:p>
            <a:pPr algn="l">
              <a:spcBef>
                <a:spcPts val="0"/>
              </a:spcBef>
              <a:spcAft>
                <a:spcPts val="200"/>
              </a:spcAft>
            </a:pPr>
            <a:r>
              <a:rPr sz="2000" b="0">
                <a:solidFill>
                  <a:srgbClr val="1F3660"/>
                </a:solidFill>
                <a:latin typeface="Calibri"/>
              </a:rPr>
              <a:t>B = 2^16.   q = 4n digits.</a:t>
            </a:r>
          </a:p>
        </p:txBody>
      </p:sp>
      <p:sp>
        <p:nvSpPr>
          <p:cNvPr id="4" name="TextBox 3"/>
          <p:cNvSpPr txBox="1"/>
          <p:nvPr/>
        </p:nvSpPr>
        <p:spPr>
          <a:xfrm>
            <a:off x="566928" y="2377440"/>
            <a:ext cx="6675120" cy="137160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c_k is the sum of a_i b_j for i + j = k.</a:t>
            </a:r>
          </a:p>
          <a:p>
            <a:pPr algn="l">
              <a:spcBef>
                <a:spcPts val="0"/>
              </a:spcBef>
              <a:spcAft>
                <a:spcPts val="200"/>
              </a:spcAft>
            </a:pPr>
            <a:r>
              <a:rPr sz="2000" b="0">
                <a:solidFill>
                  <a:srgbClr val="1F3660"/>
                </a:solidFill>
                <a:latin typeface="Calibri"/>
              </a:rPr>
              <a:t>Then carry those digits back into limbs, in base B.</a:t>
            </a:r>
          </a:p>
        </p:txBody>
      </p:sp>
      <p:sp>
        <p:nvSpPr>
          <p:cNvPr id="5" name="Rounded Rectangle 4"/>
          <p:cNvSpPr/>
          <p:nvPr/>
        </p:nvSpPr>
        <p:spPr>
          <a:xfrm>
            <a:off x="7635240" y="1097280"/>
            <a:ext cx="3977639" cy="777240"/>
          </a:xfrm>
          <a:prstGeom prst="roundRect">
            <a:avLst>
              <a:gd name="adj" fmla="val 14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35240" y="1298448"/>
            <a:ext cx="3977639" cy="411480"/>
          </a:xfrm>
          <a:prstGeom prst="rect">
            <a:avLst/>
          </a:prstGeom>
          <a:noFill/>
        </p:spPr>
        <p:txBody>
          <a:bodyPr wrap="square" lIns="0" rIns="0" tIns="0" bIns="0"/>
          <a:lstStyle/>
          <a:p>
            <a:pPr algn="ctr">
              <a:spcBef>
                <a:spcPts val="0"/>
              </a:spcBef>
              <a:spcAft>
                <a:spcPts val="200"/>
              </a:spcAft>
            </a:pPr>
            <a:r>
              <a:rPr sz="1800" b="1">
                <a:solidFill>
                  <a:srgbClr val="1F3660"/>
                </a:solidFill>
                <a:latin typeface="Calibri"/>
              </a:rPr>
              <a:t>Load digits</a:t>
            </a:r>
          </a:p>
        </p:txBody>
      </p:sp>
      <p:sp>
        <p:nvSpPr>
          <p:cNvPr id="7" name="Rounded Rectangle 6"/>
          <p:cNvSpPr/>
          <p:nvPr/>
        </p:nvSpPr>
        <p:spPr>
          <a:xfrm>
            <a:off x="7635240" y="2029967"/>
            <a:ext cx="3977639" cy="777240"/>
          </a:xfrm>
          <a:prstGeom prst="roundRect">
            <a:avLst>
              <a:gd name="adj" fmla="val 14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2231136"/>
            <a:ext cx="3977639"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Forward NTT</a:t>
            </a:r>
          </a:p>
        </p:txBody>
      </p:sp>
      <p:sp>
        <p:nvSpPr>
          <p:cNvPr id="9" name="Rounded Rectangle 8"/>
          <p:cNvSpPr/>
          <p:nvPr/>
        </p:nvSpPr>
        <p:spPr>
          <a:xfrm>
            <a:off x="7635240" y="2962656"/>
            <a:ext cx="3977639" cy="777240"/>
          </a:xfrm>
          <a:prstGeom prst="roundRect">
            <a:avLst>
              <a:gd name="adj" fmla="val 14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3163824"/>
            <a:ext cx="3977639"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Pointwise product</a:t>
            </a:r>
          </a:p>
        </p:txBody>
      </p:sp>
      <p:sp>
        <p:nvSpPr>
          <p:cNvPr id="11" name="Rounded Rectangle 10"/>
          <p:cNvSpPr/>
          <p:nvPr/>
        </p:nvSpPr>
        <p:spPr>
          <a:xfrm>
            <a:off x="7635240" y="3895344"/>
            <a:ext cx="3977639" cy="777240"/>
          </a:xfrm>
          <a:prstGeom prst="roundRect">
            <a:avLst>
              <a:gd name="adj" fmla="val 14000"/>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4096511"/>
            <a:ext cx="3977639" cy="411480"/>
          </a:xfrm>
          <a:prstGeom prst="rect">
            <a:avLst/>
          </a:prstGeom>
          <a:noFill/>
        </p:spPr>
        <p:txBody>
          <a:bodyPr wrap="square" lIns="0" rIns="0" tIns="0" bIns="0"/>
          <a:lstStyle/>
          <a:p>
            <a:pPr algn="ctr">
              <a:spcBef>
                <a:spcPts val="0"/>
              </a:spcBef>
              <a:spcAft>
                <a:spcPts val="200"/>
              </a:spcAft>
            </a:pPr>
            <a:r>
              <a:rPr sz="1800" b="1">
                <a:solidFill>
                  <a:srgbClr val="FFFFFF"/>
                </a:solidFill>
                <a:latin typeface="Calibri"/>
              </a:rPr>
              <a:t>Inverse NTT</a:t>
            </a:r>
          </a:p>
        </p:txBody>
      </p:sp>
      <p:sp>
        <p:nvSpPr>
          <p:cNvPr id="13" name="Rounded Rectangle 12"/>
          <p:cNvSpPr/>
          <p:nvPr/>
        </p:nvSpPr>
        <p:spPr>
          <a:xfrm>
            <a:off x="7635240" y="4828032"/>
            <a:ext cx="3977639" cy="777240"/>
          </a:xfrm>
          <a:prstGeom prst="roundRect">
            <a:avLst>
              <a:gd name="adj" fmla="val 14000"/>
            </a:avLst>
          </a:prstGeom>
          <a:solidFill>
            <a:srgbClr val="B6C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35240" y="5029200"/>
            <a:ext cx="3977639" cy="411480"/>
          </a:xfrm>
          <a:prstGeom prst="rect">
            <a:avLst/>
          </a:prstGeom>
          <a:noFill/>
        </p:spPr>
        <p:txBody>
          <a:bodyPr wrap="square" lIns="0" rIns="0" tIns="0" bIns="0"/>
          <a:lstStyle/>
          <a:p>
            <a:pPr algn="ctr">
              <a:spcBef>
                <a:spcPts val="0"/>
              </a:spcBef>
              <a:spcAft>
                <a:spcPts val="200"/>
              </a:spcAft>
            </a:pPr>
            <a:r>
              <a:rPr sz="1800" b="1">
                <a:solidFill>
                  <a:srgbClr val="1F3660"/>
                </a:solidFill>
                <a:latin typeface="Calibri"/>
              </a:rPr>
              <a:t>Carry into limbs</a:t>
            </a:r>
          </a:p>
        </p:txBody>
      </p:sp>
      <p:sp>
        <p:nvSpPr>
          <p:cNvPr id="15" name="TextBox 14"/>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P = 2^64 - 2^32 + 1. Length is the next power of two that is at least 2q. OpenAiMul.c:263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The invariant</a:t>
            </a:r>
          </a:p>
        </p:txBody>
      </p:sp>
      <p:sp>
        <p:nvSpPr>
          <p:cNvPr id="3" name="Rounded Rectangle 2"/>
          <p:cNvSpPr/>
          <p:nvPr/>
        </p:nvSpPr>
        <p:spPr>
          <a:xfrm>
            <a:off x="566928" y="1051560"/>
            <a:ext cx="11064240" cy="105156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98480" cy="73152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After the inverse transform, bucket k is the exact shift-k sum.</a:t>
            </a:r>
          </a:p>
          <a:p>
            <a:pPr algn="l">
              <a:spcBef>
                <a:spcPts val="0"/>
              </a:spcBef>
              <a:spcAft>
                <a:spcPts val="200"/>
              </a:spcAft>
            </a:pPr>
            <a:r>
              <a:rPr sz="2200" b="1">
                <a:solidFill>
                  <a:srgbClr val="1F3660"/>
                </a:solidFill>
                <a:latin typeface="Calibri"/>
              </a:rPr>
              <a:t>No wrap from a higher shift, and the sum is below P.</a:t>
            </a:r>
          </a:p>
        </p:txBody>
      </p:sp>
      <p:sp>
        <p:nvSpPr>
          <p:cNvPr id="5" name="Rounded Rectangle 4"/>
          <p:cNvSpPr/>
          <p:nvPr/>
        </p:nvSpPr>
        <p:spPr>
          <a:xfrm>
            <a:off x="566928" y="2286000"/>
            <a:ext cx="11064240" cy="1554480"/>
          </a:xfrm>
          <a:prstGeom prst="roundRect">
            <a:avLst>
              <a:gd name="adj" fmla="val 10000"/>
            </a:avLst>
          </a:prstGeom>
          <a:solidFill>
            <a:srgbClr val="181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23160"/>
            <a:ext cx="10698480" cy="1325880"/>
          </a:xfrm>
          <a:prstGeom prst="rect">
            <a:avLst/>
          </a:prstGeom>
          <a:noFill/>
        </p:spPr>
        <p:txBody>
          <a:bodyPr wrap="square" tIns="73152" bIns="54864" anchor="ctr">
            <a:spAutoFit/>
          </a:bodyPr>
          <a:lstStyle/>
          <a:p>
            <a:pPr algn="l">
              <a:spcBef>
                <a:spcPts val="0"/>
              </a:spcBef>
              <a:spcAft>
                <a:spcPts val="300"/>
              </a:spcAft>
            </a:pPr>
            <a:r>
              <a:rPr sz="1800" b="0">
                <a:solidFill>
                  <a:srgbClr val="E8ECF2"/>
                </a:solidFill>
                <a:latin typeface="Consolas"/>
              </a:rPr>
              <a:t>while (size &lt; </a:t>
            </a:r>
            <a:r>
              <a:rPr sz="1800" b="1">
                <a:solidFill>
                  <a:srgbClr val="D47523"/>
                </a:solidFill>
                <a:latin typeface="Consolas"/>
              </a:rPr>
              <a:t>2 * digitCount</a:t>
            </a:r>
            <a:r>
              <a:rPr sz="1800" b="0">
                <a:solidFill>
                  <a:srgbClr val="E8ECF2"/>
                </a:solidFill>
                <a:latin typeface="Consolas"/>
              </a:rPr>
              <a:t>)</a:t>
            </a:r>
          </a:p>
          <a:p>
            <a:pPr algn="l">
              <a:spcBef>
                <a:spcPts val="0"/>
              </a:spcBef>
              <a:spcAft>
                <a:spcPts val="300"/>
              </a:spcAft>
            </a:pPr>
            <a:r>
              <a:rPr sz="1800" b="0">
                <a:solidFill>
                  <a:srgbClr val="E8ECF2"/>
                </a:solidFill>
                <a:latin typeface="Consolas"/>
              </a:rPr>
              <a:t>    size &lt;&lt;= 1;</a:t>
            </a:r>
          </a:p>
          <a:p>
            <a:pPr algn="l">
              <a:spcBef>
                <a:spcPts val="0"/>
              </a:spcBef>
              <a:spcAft>
                <a:spcPts val="300"/>
              </a:spcAft>
            </a:pPr>
            <a:r>
              <a:rPr sz="1800" b="0">
                <a:solidFill>
                  <a:srgbClr val="E8ECF2"/>
                </a:solidFill>
                <a:latin typeface="Consolas"/>
              </a:rPr>
              <a:t>values[i] = ModMul(values[i], </a:t>
            </a:r>
            <a:r>
              <a:rPr sz="1800" b="1">
                <a:solidFill>
                  <a:srgbClr val="D47523"/>
                </a:solidFill>
                <a:latin typeface="Consolas"/>
              </a:rPr>
              <a:t>inverseLength</a:t>
            </a:r>
            <a:r>
              <a:rPr sz="1800" b="0">
                <a:solidFill>
                  <a:srgbClr val="E8ECF2"/>
                </a:solidFill>
                <a:latin typeface="Consolas"/>
              </a:rPr>
              <a:t>);</a:t>
            </a:r>
          </a:p>
        </p:txBody>
      </p:sp>
      <p:sp>
        <p:nvSpPr>
          <p:cNvPr id="7" name="TextBox 6"/>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OpenAiMul.c:265 and OpenAiMul.c:358-362. S is at least 2q, and S is a power of two.</a:t>
            </a:r>
          </a:p>
        </p:txBody>
      </p:sp>
      <p:sp>
        <p:nvSpPr>
          <p:cNvPr id="8" name="Rounded Rectangle 7"/>
          <p:cNvSpPr/>
          <p:nvPr/>
        </p:nvSpPr>
        <p:spPr>
          <a:xfrm>
            <a:off x="566928" y="4480560"/>
            <a:ext cx="5394960" cy="169164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4626864"/>
            <a:ext cx="502920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1   The length stops the wrap</a:t>
            </a:r>
          </a:p>
        </p:txBody>
      </p:sp>
      <p:sp>
        <p:nvSpPr>
          <p:cNvPr id="10" name="TextBox 9"/>
          <p:cNvSpPr txBox="1"/>
          <p:nvPr/>
        </p:nvSpPr>
        <p:spPr>
          <a:xfrm>
            <a:off x="768096" y="5047488"/>
            <a:ext cx="5029200" cy="97840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S is at least 2q, so a higher shift stays in its own bucket.</a:t>
            </a:r>
          </a:p>
        </p:txBody>
      </p:sp>
      <p:sp>
        <p:nvSpPr>
          <p:cNvPr id="11" name="Rounded Rectangle 10"/>
          <p:cNvSpPr/>
          <p:nvPr/>
        </p:nvSpPr>
        <p:spPr>
          <a:xfrm>
            <a:off x="6217920" y="4480560"/>
            <a:ext cx="5394960" cy="169164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4626864"/>
            <a:ext cx="502920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2   The inverse removes the scale</a:t>
            </a:r>
          </a:p>
        </p:txBody>
      </p:sp>
      <p:sp>
        <p:nvSpPr>
          <p:cNvPr id="13" name="TextBox 12"/>
          <p:cNvSpPr txBox="1"/>
          <p:nvPr/>
        </p:nvSpPr>
        <p:spPr>
          <a:xfrm>
            <a:off x="6419088" y="5047488"/>
            <a:ext cx="5029200" cy="97840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Drop that multiply and every coefficient is multiplied by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Why twice the digit count</a:t>
            </a:r>
          </a:p>
        </p:txBody>
      </p:sp>
      <p:sp>
        <p:nvSpPr>
          <p:cNvPr id="3" name="TextBox 2"/>
          <p:cNvSpPr txBox="1"/>
          <p:nvPr/>
        </p:nvSpPr>
        <p:spPr>
          <a:xfrm>
            <a:off x="566928" y="1051560"/>
            <a:ext cx="7315200" cy="365760"/>
          </a:xfrm>
          <a:prstGeom prst="rect">
            <a:avLst/>
          </a:prstGeom>
          <a:noFill/>
        </p:spPr>
        <p:txBody>
          <a:bodyPr wrap="square" lIns="0" rIns="0" tIns="0" bIns="0"/>
          <a:lstStyle/>
          <a:p>
            <a:pPr algn="l">
              <a:spcBef>
                <a:spcPts val="0"/>
              </a:spcBef>
              <a:spcAft>
                <a:spcPts val="200"/>
              </a:spcAft>
            </a:pPr>
            <a:r>
              <a:rPr sz="2000" b="0">
                <a:solidFill>
                  <a:srgbClr val="1F3660"/>
                </a:solidFill>
                <a:latin typeface="Calibri"/>
              </a:rPr>
              <a:t>Toy example. Digits 3, 5 times 7, 11.</a:t>
            </a:r>
          </a:p>
        </p:txBody>
      </p:sp>
      <p:sp>
        <p:nvSpPr>
          <p:cNvPr id="4" name="Rounded Rectangle 3"/>
          <p:cNvSpPr/>
          <p:nvPr/>
        </p:nvSpPr>
        <p:spPr>
          <a:xfrm>
            <a:off x="566928" y="1600200"/>
            <a:ext cx="5394960" cy="4297680"/>
          </a:xfrm>
          <a:prstGeom prst="roundRect">
            <a:avLst>
              <a:gd name="adj" fmla="val 10000"/>
            </a:avLst>
          </a:prstGeom>
          <a:solidFill>
            <a:srgbClr val="F4E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1746504"/>
            <a:ext cx="5029200" cy="384048"/>
          </a:xfrm>
          <a:prstGeom prst="rect">
            <a:avLst/>
          </a:prstGeom>
          <a:noFill/>
        </p:spPr>
        <p:txBody>
          <a:bodyPr wrap="square" lIns="0" rIns="0" tIns="0" bIns="0"/>
          <a:lstStyle/>
          <a:p>
            <a:pPr algn="l">
              <a:spcBef>
                <a:spcPts val="0"/>
              </a:spcBef>
              <a:spcAft>
                <a:spcPts val="200"/>
              </a:spcAft>
            </a:pPr>
            <a:r>
              <a:rPr sz="1800" b="1">
                <a:solidFill>
                  <a:srgbClr val="B03030"/>
                </a:solidFill>
                <a:latin typeface="Calibri"/>
              </a:rPr>
              <a:t>X   Length 2</a:t>
            </a:r>
          </a:p>
        </p:txBody>
      </p:sp>
      <p:sp>
        <p:nvSpPr>
          <p:cNvPr id="6" name="TextBox 5"/>
          <p:cNvSpPr txBox="1"/>
          <p:nvPr/>
        </p:nvSpPr>
        <p:spPr>
          <a:xfrm>
            <a:off x="768096" y="2167128"/>
            <a:ext cx="5029200" cy="35844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76</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55 wraps onto 21.</a:t>
            </a:r>
          </a:p>
          <a:p>
            <a:pPr algn="l">
              <a:spcBef>
                <a:spcPts val="0"/>
              </a:spcBef>
              <a:spcAft>
                <a:spcPts val="200"/>
              </a:spcAft>
            </a:pPr>
            <a:r>
              <a:rPr sz="1600" b="0">
                <a:solidFill>
                  <a:srgbClr val="1F3660"/>
                </a:solidFill>
                <a:latin typeface="Calibri"/>
              </a:rPr>
              <a:t>The low digit is a different integer.</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A later carry cannot move that 55 back out.</a:t>
            </a:r>
          </a:p>
        </p:txBody>
      </p:sp>
      <p:sp>
        <p:nvSpPr>
          <p:cNvPr id="7" name="Rounded Rectangle 6"/>
          <p:cNvSpPr/>
          <p:nvPr/>
        </p:nvSpPr>
        <p:spPr>
          <a:xfrm>
            <a:off x="6217920" y="1600200"/>
            <a:ext cx="5394960" cy="4297680"/>
          </a:xfrm>
          <a:prstGeom prst="roundRect">
            <a:avLst>
              <a:gd name="adj" fmla="val 10000"/>
            </a:avLst>
          </a:prstGeom>
          <a:solidFill>
            <a:srgbClr val="E4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746504"/>
            <a:ext cx="5029200" cy="384048"/>
          </a:xfrm>
          <a:prstGeom prst="rect">
            <a:avLst/>
          </a:prstGeom>
          <a:noFill/>
        </p:spPr>
        <p:txBody>
          <a:bodyPr wrap="square" lIns="0" rIns="0" tIns="0" bIns="0"/>
          <a:lstStyle/>
          <a:p>
            <a:pPr algn="l">
              <a:spcBef>
                <a:spcPts val="0"/>
              </a:spcBef>
              <a:spcAft>
                <a:spcPts val="200"/>
              </a:spcAft>
            </a:pPr>
            <a:r>
              <a:rPr sz="1800" b="1">
                <a:solidFill>
                  <a:srgbClr val="247A48"/>
                </a:solidFill>
                <a:latin typeface="Calibri"/>
              </a:rPr>
              <a:t>Length 4</a:t>
            </a:r>
          </a:p>
        </p:txBody>
      </p:sp>
      <p:sp>
        <p:nvSpPr>
          <p:cNvPr id="9" name="TextBox 8"/>
          <p:cNvSpPr txBox="1"/>
          <p:nvPr/>
        </p:nvSpPr>
        <p:spPr>
          <a:xfrm>
            <a:off x="6419088" y="2167128"/>
            <a:ext cx="5029200" cy="35844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21,  68,  55</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Each shift keeps its own place.</a:t>
            </a:r>
          </a:p>
          <a:p>
            <a:pPr algn="l">
              <a:spcBef>
                <a:spcPts val="0"/>
              </a:spcBef>
              <a:spcAft>
                <a:spcPts val="200"/>
              </a:spcAft>
            </a:pPr>
            <a:r>
              <a:rPr sz="1600" b="0">
                <a:solidFill>
                  <a:srgbClr val="1F3660"/>
                </a:solidFill>
                <a:latin typeface="Calibri"/>
              </a:rPr>
              <a:t>The pad is the extra two zeros.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3x7 = 21.  3x11 + 5x7 = 68.  5x11 = 55.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breaks without it</a:t>
            </a:r>
          </a:p>
        </p:txBody>
      </p:sp>
      <p:sp>
        <p:nvSpPr>
          <p:cNvPr id="3" name="Rounded Rectangle 2"/>
          <p:cNvSpPr/>
          <p:nvPr/>
        </p:nvSpPr>
        <p:spPr>
          <a:xfrm>
            <a:off x="502920" y="1097280"/>
            <a:ext cx="6537960" cy="3063240"/>
          </a:xfrm>
          <a:prstGeom prst="roundRect">
            <a:avLst>
              <a:gd name="adj" fmla="val 10000"/>
            </a:avLst>
          </a:prstGeom>
          <a:solidFill>
            <a:srgbClr val="181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6263640" cy="2788920"/>
          </a:xfrm>
          <a:prstGeom prst="rect">
            <a:avLst/>
          </a:prstGeom>
          <a:noFill/>
        </p:spPr>
        <p:txBody>
          <a:bodyPr wrap="square" tIns="73152" bIns="54864" anchor="ctr">
            <a:spAutoFit/>
          </a:bodyPr>
          <a:lstStyle/>
          <a:p>
            <a:pPr algn="l">
              <a:spcBef>
                <a:spcPts val="0"/>
              </a:spcBef>
              <a:spcAft>
                <a:spcPts val="300"/>
              </a:spcAft>
            </a:pPr>
            <a:r>
              <a:rPr sz="1800" b="0">
                <a:solidFill>
                  <a:srgbClr val="E8ECF2"/>
                </a:solidFill>
                <a:latin typeface="Consolas"/>
              </a:rPr>
              <a:t>shift 0    3x7            =  21</a:t>
            </a:r>
          </a:p>
          <a:p>
            <a:pPr algn="l">
              <a:spcBef>
                <a:spcPts val="0"/>
              </a:spcBef>
              <a:spcAft>
                <a:spcPts val="300"/>
              </a:spcAft>
            </a:pPr>
            <a:r>
              <a:rPr sz="1800" b="0">
                <a:solidFill>
                  <a:srgbClr val="E8ECF2"/>
                </a:solidFill>
                <a:latin typeface="Consolas"/>
              </a:rPr>
              <a:t>shift 1    3x11 + 5x7     =  68</a:t>
            </a:r>
          </a:p>
          <a:p>
            <a:pPr algn="l">
              <a:spcBef>
                <a:spcPts val="0"/>
              </a:spcBef>
              <a:spcAft>
                <a:spcPts val="300"/>
              </a:spcAft>
            </a:pPr>
            <a:r>
              <a:rPr sz="1800" b="0">
                <a:solidFill>
                  <a:srgbClr val="E8ECF2"/>
                </a:solidFill>
                <a:latin typeface="Consolas"/>
              </a:rPr>
              <a:t>shift 2    5x11           =  55</a:t>
            </a:r>
          </a:p>
          <a:p>
            <a:pPr algn="l">
              <a:spcBef>
                <a:spcPts val="0"/>
              </a:spcBef>
              <a:spcAft>
                <a:spcPts val="300"/>
              </a:spcAft>
            </a:pPr>
            <a:r>
              <a:rPr sz="1800" b="1">
                <a:solidFill>
                  <a:srgbClr val="D47523"/>
                </a:solidFill>
                <a:latin typeface="Consolas"/>
              </a:rPr>
              <a:t>length 2   low digit      =  76</a:t>
            </a:r>
          </a:p>
        </p:txBody>
      </p:sp>
      <p:sp>
        <p:nvSpPr>
          <p:cNvPr id="5" name="TextBox 4"/>
          <p:cNvSpPr txBox="1"/>
          <p:nvPr/>
        </p:nvSpPr>
        <p:spPr>
          <a:xfrm>
            <a:off x="7360920" y="1097280"/>
            <a:ext cx="4389120" cy="731520"/>
          </a:xfrm>
          <a:prstGeom prst="rect">
            <a:avLst/>
          </a:prstGeom>
          <a:noFill/>
        </p:spPr>
        <p:txBody>
          <a:bodyPr wrap="square" lIns="0" rIns="0" tIns="0" bIns="0"/>
          <a:lstStyle/>
          <a:p>
            <a:pPr algn="l">
              <a:spcBef>
                <a:spcPts val="0"/>
              </a:spcBef>
              <a:spcAft>
                <a:spcPts val="200"/>
              </a:spcAft>
            </a:pPr>
            <a:r>
              <a:rPr sz="5400" b="1">
                <a:solidFill>
                  <a:srgbClr val="B03030"/>
                </a:solidFill>
                <a:latin typeface="Calibri"/>
              </a:rPr>
              <a:t>76</a:t>
            </a:r>
          </a:p>
        </p:txBody>
      </p:sp>
      <p:sp>
        <p:nvSpPr>
          <p:cNvPr id="6" name="TextBox 5"/>
          <p:cNvSpPr txBox="1"/>
          <p:nvPr/>
        </p:nvSpPr>
        <p:spPr>
          <a:xfrm>
            <a:off x="7360920" y="1874519"/>
            <a:ext cx="4389120" cy="548640"/>
          </a:xfrm>
          <a:prstGeom prst="rect">
            <a:avLst/>
          </a:prstGeom>
          <a:noFill/>
        </p:spPr>
        <p:txBody>
          <a:bodyPr wrap="square" lIns="0" rIns="0" tIns="0" bIns="0"/>
          <a:lstStyle/>
          <a:p>
            <a:pPr algn="l">
              <a:spcBef>
                <a:spcPts val="0"/>
              </a:spcBef>
              <a:spcAft>
                <a:spcPts val="200"/>
              </a:spcAft>
            </a:pPr>
            <a:r>
              <a:rPr sz="1800" b="0">
                <a:solidFill>
                  <a:srgbClr val="1F3660"/>
                </a:solidFill>
                <a:latin typeface="Calibri"/>
              </a:rPr>
              <a:t>low digit, should be 21</a:t>
            </a:r>
          </a:p>
        </p:txBody>
      </p:sp>
      <p:sp>
        <p:nvSpPr>
          <p:cNvPr id="7" name="TextBox 6"/>
          <p:cNvSpPr txBox="1"/>
          <p:nvPr/>
        </p:nvSpPr>
        <p:spPr>
          <a:xfrm>
            <a:off x="7360920" y="2560320"/>
            <a:ext cx="4389120" cy="685800"/>
          </a:xfrm>
          <a:prstGeom prst="rect">
            <a:avLst/>
          </a:prstGeom>
          <a:noFill/>
        </p:spPr>
        <p:txBody>
          <a:bodyPr wrap="square" lIns="0" rIns="0" tIns="0" bIns="0"/>
          <a:lstStyle/>
          <a:p>
            <a:pPr algn="l">
              <a:spcBef>
                <a:spcPts val="0"/>
              </a:spcBef>
              <a:spcAft>
                <a:spcPts val="200"/>
              </a:spcAft>
            </a:pPr>
            <a:r>
              <a:rPr sz="4400" b="1">
                <a:solidFill>
                  <a:srgbClr val="1F3660"/>
                </a:solidFill>
                <a:latin typeface="Calibri"/>
              </a:rPr>
              <a:t>x 4</a:t>
            </a:r>
          </a:p>
        </p:txBody>
      </p:sp>
      <p:sp>
        <p:nvSpPr>
          <p:cNvPr id="8" name="TextBox 7"/>
          <p:cNvSpPr txBox="1"/>
          <p:nvPr/>
        </p:nvSpPr>
        <p:spPr>
          <a:xfrm>
            <a:off x="7360920" y="3337560"/>
            <a:ext cx="4389120" cy="731520"/>
          </a:xfrm>
          <a:prstGeom prst="rect">
            <a:avLst/>
          </a:prstGeom>
          <a:noFill/>
        </p:spPr>
        <p:txBody>
          <a:bodyPr wrap="square" lIns="0" rIns="0" tIns="0" bIns="0"/>
          <a:lstStyle/>
          <a:p>
            <a:pPr algn="l">
              <a:spcBef>
                <a:spcPts val="0"/>
              </a:spcBef>
              <a:spcAft>
                <a:spcPts val="200"/>
              </a:spcAft>
            </a:pPr>
            <a:r>
              <a:rPr sz="1800" b="0">
                <a:solidFill>
                  <a:srgbClr val="1F3660"/>
                </a:solidFill>
                <a:latin typeface="Calibri"/>
              </a:rPr>
              <a:t>whole product, if the inverse skips the length</a:t>
            </a:r>
          </a:p>
        </p:txBody>
      </p:sp>
      <p:sp>
        <p:nvSpPr>
          <p:cNvPr id="9" name="TextBox 8"/>
          <p:cNvSpPr txBox="1"/>
          <p:nvPr/>
        </p:nvSpPr>
        <p:spPr>
          <a:xfrm>
            <a:off x="566928" y="4389120"/>
            <a:ext cx="10972800" cy="365760"/>
          </a:xfrm>
          <a:prstGeom prst="rect">
            <a:avLst/>
          </a:prstGeom>
          <a:noFill/>
        </p:spPr>
        <p:txBody>
          <a:bodyPr wrap="square" lIns="0" rIns="0" tIns="0" bIns="0"/>
          <a:lstStyle/>
          <a:p>
            <a:pPr algn="l">
              <a:spcBef>
                <a:spcPts val="0"/>
              </a:spcBef>
              <a:spcAft>
                <a:spcPts val="200"/>
              </a:spcAft>
            </a:pPr>
            <a:r>
              <a:rPr sz="1500" b="0">
                <a:solidFill>
                  <a:srgbClr val="5A687C"/>
                </a:solidFill>
                <a:latin typeface="Calibri"/>
              </a:rPr>
              <a:t>Same product, digit by digit</a:t>
            </a:r>
          </a:p>
        </p:txBody>
      </p:sp>
      <p:sp>
        <p:nvSpPr>
          <p:cNvPr id="10" name="TextBox 9"/>
          <p:cNvSpPr txBox="1"/>
          <p:nvPr/>
        </p:nvSpPr>
        <p:spPr>
          <a:xfrm>
            <a:off x="566928" y="4846320"/>
            <a:ext cx="2194560" cy="457200"/>
          </a:xfrm>
          <a:prstGeom prst="rect">
            <a:avLst/>
          </a:prstGeom>
          <a:noFill/>
        </p:spPr>
        <p:txBody>
          <a:bodyPr wrap="square" lIns="0" rIns="0" tIns="0" bIns="0"/>
          <a:lstStyle/>
          <a:p>
            <a:pPr algn="l">
              <a:spcBef>
                <a:spcPts val="0"/>
              </a:spcBef>
              <a:spcAft>
                <a:spcPts val="200"/>
              </a:spcAft>
            </a:pPr>
            <a:r>
              <a:rPr sz="1500" b="1">
                <a:solidFill>
                  <a:srgbClr val="247A48"/>
                </a:solidFill>
                <a:latin typeface="Calibri"/>
              </a:rPr>
              <a:t>with the scale</a:t>
            </a:r>
          </a:p>
        </p:txBody>
      </p:sp>
      <p:sp>
        <p:nvSpPr>
          <p:cNvPr id="11" name="Rounded Rectangle 10"/>
          <p:cNvSpPr/>
          <p:nvPr/>
        </p:nvSpPr>
        <p:spPr>
          <a:xfrm>
            <a:off x="2834640" y="4800600"/>
            <a:ext cx="914400" cy="502920"/>
          </a:xfrm>
          <a:prstGeom prst="roundRect">
            <a:avLst>
              <a:gd name="adj" fmla="val 12000"/>
            </a:avLst>
          </a:prstGeom>
          <a:solidFill>
            <a:srgbClr val="24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48737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21</a:t>
            </a:r>
          </a:p>
        </p:txBody>
      </p:sp>
      <p:sp>
        <p:nvSpPr>
          <p:cNvPr id="13" name="Rounded Rectangle 12"/>
          <p:cNvSpPr/>
          <p:nvPr/>
        </p:nvSpPr>
        <p:spPr>
          <a:xfrm>
            <a:off x="3886200" y="4800600"/>
            <a:ext cx="914400" cy="502920"/>
          </a:xfrm>
          <a:prstGeom prst="roundRect">
            <a:avLst>
              <a:gd name="adj" fmla="val 12000"/>
            </a:avLst>
          </a:prstGeom>
          <a:solidFill>
            <a:srgbClr val="24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0" y="48737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68</a:t>
            </a:r>
          </a:p>
        </p:txBody>
      </p:sp>
      <p:sp>
        <p:nvSpPr>
          <p:cNvPr id="15" name="Rounded Rectangle 14"/>
          <p:cNvSpPr/>
          <p:nvPr/>
        </p:nvSpPr>
        <p:spPr>
          <a:xfrm>
            <a:off x="4937760" y="4800600"/>
            <a:ext cx="914400" cy="502920"/>
          </a:xfrm>
          <a:prstGeom prst="roundRect">
            <a:avLst>
              <a:gd name="adj" fmla="val 12000"/>
            </a:avLst>
          </a:prstGeom>
          <a:solidFill>
            <a:srgbClr val="24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48737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55</a:t>
            </a:r>
          </a:p>
        </p:txBody>
      </p:sp>
      <p:sp>
        <p:nvSpPr>
          <p:cNvPr id="17" name="Rounded Rectangle 16"/>
          <p:cNvSpPr/>
          <p:nvPr/>
        </p:nvSpPr>
        <p:spPr>
          <a:xfrm>
            <a:off x="5989320" y="4800600"/>
            <a:ext cx="914400" cy="502920"/>
          </a:xfrm>
          <a:prstGeom prst="roundRect">
            <a:avLst>
              <a:gd name="adj" fmla="val 12000"/>
            </a:avLst>
          </a:prstGeom>
          <a:solidFill>
            <a:srgbClr val="247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48737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0</a:t>
            </a:r>
          </a:p>
        </p:txBody>
      </p:sp>
      <p:sp>
        <p:nvSpPr>
          <p:cNvPr id="19" name="TextBox 18"/>
          <p:cNvSpPr txBox="1"/>
          <p:nvPr/>
        </p:nvSpPr>
        <p:spPr>
          <a:xfrm>
            <a:off x="566928" y="5532120"/>
            <a:ext cx="2194560" cy="457200"/>
          </a:xfrm>
          <a:prstGeom prst="rect">
            <a:avLst/>
          </a:prstGeom>
          <a:noFill/>
        </p:spPr>
        <p:txBody>
          <a:bodyPr wrap="square" lIns="0" rIns="0" tIns="0" bIns="0"/>
          <a:lstStyle/>
          <a:p>
            <a:pPr algn="l">
              <a:spcBef>
                <a:spcPts val="0"/>
              </a:spcBef>
              <a:spcAft>
                <a:spcPts val="200"/>
              </a:spcAft>
            </a:pPr>
            <a:r>
              <a:rPr sz="1500" b="1">
                <a:solidFill>
                  <a:srgbClr val="B03030"/>
                </a:solidFill>
                <a:latin typeface="Calibri"/>
              </a:rPr>
              <a:t>length 2</a:t>
            </a:r>
          </a:p>
        </p:txBody>
      </p:sp>
      <p:sp>
        <p:nvSpPr>
          <p:cNvPr id="20" name="Rounded Rectangle 19"/>
          <p:cNvSpPr/>
          <p:nvPr/>
        </p:nvSpPr>
        <p:spPr>
          <a:xfrm>
            <a:off x="2834640" y="5486400"/>
            <a:ext cx="914400" cy="502920"/>
          </a:xfrm>
          <a:prstGeom prst="roundRect">
            <a:avLst>
              <a:gd name="adj" fmla="val 12000"/>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55595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76</a:t>
            </a:r>
          </a:p>
        </p:txBody>
      </p:sp>
      <p:sp>
        <p:nvSpPr>
          <p:cNvPr id="22" name="Rounded Rectangle 21"/>
          <p:cNvSpPr/>
          <p:nvPr/>
        </p:nvSpPr>
        <p:spPr>
          <a:xfrm>
            <a:off x="3886200" y="5486400"/>
            <a:ext cx="914400" cy="502920"/>
          </a:xfrm>
          <a:prstGeom prst="roundRect">
            <a:avLst>
              <a:gd name="adj" fmla="val 12000"/>
            </a:avLst>
          </a:prstGeom>
          <a:solidFill>
            <a:srgbClr val="B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5559552"/>
            <a:ext cx="914400" cy="365760"/>
          </a:xfrm>
          <a:prstGeom prst="rect">
            <a:avLst/>
          </a:prstGeom>
          <a:noFill/>
        </p:spPr>
        <p:txBody>
          <a:bodyPr wrap="square" lIns="0" rIns="0" tIns="0" bIns="0"/>
          <a:lstStyle/>
          <a:p>
            <a:pPr algn="ctr">
              <a:spcBef>
                <a:spcPts val="0"/>
              </a:spcBef>
              <a:spcAft>
                <a:spcPts val="200"/>
              </a:spcAft>
            </a:pPr>
            <a:r>
              <a:rPr sz="1600" b="1">
                <a:solidFill>
                  <a:srgbClr val="FFFFFF"/>
                </a:solidFill>
                <a:latin typeface="Calibri"/>
              </a:rPr>
              <a:t>68</a:t>
            </a:r>
          </a:p>
        </p:txBody>
      </p:sp>
      <p:sp>
        <p:nvSpPr>
          <p:cNvPr id="24" name="TextBox 23"/>
          <p:cNvSpPr txBox="1"/>
          <p:nvPr/>
        </p:nvSpPr>
        <p:spPr>
          <a:xfrm>
            <a:off x="5029200" y="5532120"/>
            <a:ext cx="5943600" cy="457200"/>
          </a:xfrm>
          <a:prstGeom prst="rect">
            <a:avLst/>
          </a:prstGeom>
          <a:noFill/>
        </p:spPr>
        <p:txBody>
          <a:bodyPr wrap="square" lIns="0" rIns="0" tIns="0" bIns="0"/>
          <a:lstStyle/>
          <a:p>
            <a:pPr algn="l">
              <a:spcBef>
                <a:spcPts val="0"/>
              </a:spcBef>
              <a:spcAft>
                <a:spcPts val="200"/>
              </a:spcAft>
            </a:pPr>
            <a:r>
              <a:rPr sz="1600" b="0">
                <a:solidFill>
                  <a:srgbClr val="5A687C"/>
                </a:solidFill>
                <a:latin typeface="Calibri"/>
              </a:rPr>
              <a:t>55 has already been added into the first place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Two experiments, two machines</a:t>
            </a:r>
          </a:p>
        </p:txBody>
      </p:sp>
      <p:sp>
        <p:nvSpPr>
          <p:cNvPr id="3" name="Rounded Rectangle 2"/>
          <p:cNvSpPr/>
          <p:nvPr/>
        </p:nvSpPr>
        <p:spPr>
          <a:xfrm>
            <a:off x="566928" y="1188720"/>
            <a:ext cx="5486400" cy="466344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335024"/>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Ryzen, GMP 6.3.0</a:t>
            </a:r>
          </a:p>
        </p:txBody>
      </p:sp>
      <p:sp>
        <p:nvSpPr>
          <p:cNvPr id="5" name="TextBox 4"/>
          <p:cNvSpPr txBox="1"/>
          <p:nvPr/>
        </p:nvSpPr>
        <p:spPr>
          <a:xfrm>
            <a:off x="768096" y="1755648"/>
            <a:ext cx="5120640" cy="395020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Ryzen harness.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All five algorithms through 16,384 limbs.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Karatsuba, FFT, OpenAI, and GMP continued through 2,097,152 limbs.</a:t>
            </a:r>
          </a:p>
        </p:txBody>
      </p:sp>
      <p:sp>
        <p:nvSpPr>
          <p:cNvPr id="6" name="Rounded Rectangle 5"/>
          <p:cNvSpPr/>
          <p:nvPr/>
        </p:nvSpPr>
        <p:spPr>
          <a:xfrm>
            <a:off x="6263640" y="1188720"/>
            <a:ext cx="5486400" cy="466344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7" y="1335024"/>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i9-13900H, GMP 6.2.1</a:t>
            </a:r>
          </a:p>
        </p:txBody>
      </p:sp>
      <p:sp>
        <p:nvSpPr>
          <p:cNvPr id="8" name="TextBox 7"/>
          <p:cNvSpPr txBox="1"/>
          <p:nvPr/>
        </p:nvSpPr>
        <p:spPr>
          <a:xfrm>
            <a:off x="6464807" y="1755648"/>
            <a:ext cx="5120640" cy="395020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i9 study.</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Schoolbook, Karatsuba, FFT, and GMP.</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Out to 131,072 limbs.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Results/Tables.md</a:t>
            </a:r>
          </a:p>
        </p:txBody>
      </p:sp>
      <p:sp>
        <p:nvSpPr>
          <p:cNvPr id="9" name="TextBox 8"/>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Checked against mpn_mul_n before the clock. Setup is outside the timer. Say which machine.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Ryzen harness, through 2,097,152 limbs</a:t>
            </a:r>
          </a:p>
        </p:txBody>
      </p:sp>
      <p:pic>
        <p:nvPicPr>
          <p:cNvPr id="3" name="Picture 2" descr="timing-plot.png"/>
          <p:cNvPicPr>
            <a:picLocks noChangeAspect="1"/>
          </p:cNvPicPr>
          <p:nvPr/>
        </p:nvPicPr>
        <p:blipFill>
          <a:blip r:embed="rId2"/>
          <a:stretch>
            <a:fillRect/>
          </a:stretch>
        </p:blipFill>
        <p:spPr>
          <a:xfrm>
            <a:off x="228600" y="1051560"/>
            <a:ext cx="7040880" cy="4983480"/>
          </a:xfrm>
          <a:prstGeom prst="rect">
            <a:avLst/>
          </a:prstGeom>
        </p:spPr>
      </p:pic>
      <p:sp>
        <p:nvSpPr>
          <p:cNvPr id="4" name="TextBox 3"/>
          <p:cNvSpPr txBox="1"/>
          <p:nvPr/>
        </p:nvSpPr>
        <p:spPr>
          <a:xfrm>
            <a:off x="7452360" y="1051560"/>
            <a:ext cx="4389120" cy="320040"/>
          </a:xfrm>
          <a:prstGeom prst="rect">
            <a:avLst/>
          </a:prstGeom>
          <a:noFill/>
        </p:spPr>
        <p:txBody>
          <a:bodyPr wrap="square" lIns="0" rIns="0" tIns="0" bIns="0"/>
          <a:lstStyle/>
          <a:p>
            <a:pPr algn="l">
              <a:spcBef>
                <a:spcPts val="0"/>
              </a:spcBef>
              <a:spcAft>
                <a:spcPts val="200"/>
              </a:spcAft>
            </a:pPr>
            <a:r>
              <a:rPr sz="1600" b="1">
                <a:solidFill>
                  <a:srgbClr val="1F3660"/>
                </a:solidFill>
                <a:latin typeface="Calibri"/>
              </a:rPr>
              <a:t>131,072 limbs</a:t>
            </a:r>
          </a:p>
        </p:txBody>
      </p:sp>
      <p:sp>
        <p:nvSpPr>
          <p:cNvPr id="5" name="TextBox 4"/>
          <p:cNvSpPr txBox="1"/>
          <p:nvPr/>
        </p:nvSpPr>
        <p:spPr>
          <a:xfrm>
            <a:off x="7452360" y="1371600"/>
            <a:ext cx="4389120" cy="868680"/>
          </a:xfrm>
          <a:prstGeom prst="rect">
            <a:avLst/>
          </a:prstGeom>
          <a:noFill/>
        </p:spPr>
        <p:txBody>
          <a:bodyPr wrap="square" lIns="0" rIns="0" tIns="0" bIns="0"/>
          <a:lstStyle/>
          <a:p>
            <a:pPr algn="l">
              <a:spcBef>
                <a:spcPts val="0"/>
              </a:spcBef>
              <a:spcAft>
                <a:spcPts val="200"/>
              </a:spcAft>
            </a:pPr>
            <a:r>
              <a:rPr sz="1500" b="0">
                <a:solidFill>
                  <a:srgbClr val="1F3660"/>
                </a:solidFill>
                <a:latin typeface="Calibri"/>
              </a:rPr>
              <a:t>OpenAI 420 ms</a:t>
            </a:r>
          </a:p>
          <a:p>
            <a:pPr algn="l">
              <a:spcBef>
                <a:spcPts val="0"/>
              </a:spcBef>
              <a:spcAft>
                <a:spcPts val="200"/>
              </a:spcAft>
            </a:pPr>
            <a:r>
              <a:rPr sz="1500" b="0">
                <a:solidFill>
                  <a:srgbClr val="1F3660"/>
                </a:solidFill>
                <a:latin typeface="Calibri"/>
              </a:rPr>
              <a:t>Karatsuba 505 ms</a:t>
            </a:r>
          </a:p>
          <a:p>
            <a:pPr algn="l">
              <a:spcBef>
                <a:spcPts val="0"/>
              </a:spcBef>
              <a:spcAft>
                <a:spcPts val="200"/>
              </a:spcAft>
            </a:pPr>
            <a:r>
              <a:rPr sz="1500" b="0">
                <a:solidFill>
                  <a:srgbClr val="1F3660"/>
                </a:solidFill>
                <a:latin typeface="Calibri"/>
              </a:rPr>
              <a:t>FFT 878 ms</a:t>
            </a:r>
          </a:p>
        </p:txBody>
      </p:sp>
      <p:sp>
        <p:nvSpPr>
          <p:cNvPr id="6" name="TextBox 5"/>
          <p:cNvSpPr txBox="1"/>
          <p:nvPr/>
        </p:nvSpPr>
        <p:spPr>
          <a:xfrm>
            <a:off x="7452360" y="2377440"/>
            <a:ext cx="4389120" cy="320040"/>
          </a:xfrm>
          <a:prstGeom prst="rect">
            <a:avLst/>
          </a:prstGeom>
          <a:noFill/>
        </p:spPr>
        <p:txBody>
          <a:bodyPr wrap="square" lIns="0" rIns="0" tIns="0" bIns="0"/>
          <a:lstStyle/>
          <a:p>
            <a:pPr algn="l">
              <a:spcBef>
                <a:spcPts val="0"/>
              </a:spcBef>
              <a:spcAft>
                <a:spcPts val="200"/>
              </a:spcAft>
            </a:pPr>
            <a:r>
              <a:rPr sz="1600" b="1">
                <a:solidFill>
                  <a:srgbClr val="1F3660"/>
                </a:solidFill>
                <a:latin typeface="Calibri"/>
              </a:rPr>
              <a:t>524,288 limbs</a:t>
            </a:r>
          </a:p>
        </p:txBody>
      </p:sp>
      <p:sp>
        <p:nvSpPr>
          <p:cNvPr id="7" name="TextBox 6"/>
          <p:cNvSpPr txBox="1"/>
          <p:nvPr/>
        </p:nvSpPr>
        <p:spPr>
          <a:xfrm>
            <a:off x="7452360" y="2697480"/>
            <a:ext cx="4389120" cy="640080"/>
          </a:xfrm>
          <a:prstGeom prst="rect">
            <a:avLst/>
          </a:prstGeom>
          <a:noFill/>
        </p:spPr>
        <p:txBody>
          <a:bodyPr wrap="square" lIns="0" rIns="0" tIns="0" bIns="0"/>
          <a:lstStyle/>
          <a:p>
            <a:pPr algn="l">
              <a:spcBef>
                <a:spcPts val="0"/>
              </a:spcBef>
              <a:spcAft>
                <a:spcPts val="200"/>
              </a:spcAft>
            </a:pPr>
            <a:r>
              <a:rPr sz="1500" b="0">
                <a:solidFill>
                  <a:srgbClr val="1F3660"/>
                </a:solidFill>
                <a:latin typeface="Calibri"/>
              </a:rPr>
              <a:t>FFT 4.08 s</a:t>
            </a:r>
          </a:p>
          <a:p>
            <a:pPr algn="l">
              <a:spcBef>
                <a:spcPts val="0"/>
              </a:spcBef>
              <a:spcAft>
                <a:spcPts val="200"/>
              </a:spcAft>
            </a:pPr>
            <a:r>
              <a:rPr sz="1500" b="0">
                <a:solidFill>
                  <a:srgbClr val="1F3660"/>
                </a:solidFill>
                <a:latin typeface="Calibri"/>
              </a:rPr>
              <a:t>Karatsuba 4.62 s</a:t>
            </a:r>
          </a:p>
        </p:txBody>
      </p:sp>
      <p:sp>
        <p:nvSpPr>
          <p:cNvPr id="8" name="TextBox 7"/>
          <p:cNvSpPr txBox="1"/>
          <p:nvPr/>
        </p:nvSpPr>
        <p:spPr>
          <a:xfrm>
            <a:off x="7452360" y="3520440"/>
            <a:ext cx="4389120" cy="320040"/>
          </a:xfrm>
          <a:prstGeom prst="rect">
            <a:avLst/>
          </a:prstGeom>
          <a:noFill/>
        </p:spPr>
        <p:txBody>
          <a:bodyPr wrap="square" lIns="0" rIns="0" tIns="0" bIns="0"/>
          <a:lstStyle/>
          <a:p>
            <a:pPr algn="l">
              <a:spcBef>
                <a:spcPts val="0"/>
              </a:spcBef>
              <a:spcAft>
                <a:spcPts val="200"/>
              </a:spcAft>
            </a:pPr>
            <a:r>
              <a:rPr sz="1600" b="1">
                <a:solidFill>
                  <a:srgbClr val="1F3660"/>
                </a:solidFill>
                <a:latin typeface="Calibri"/>
              </a:rPr>
              <a:t>2,097,152 limbs</a:t>
            </a:r>
          </a:p>
        </p:txBody>
      </p:sp>
      <p:sp>
        <p:nvSpPr>
          <p:cNvPr id="9" name="TextBox 8"/>
          <p:cNvSpPr txBox="1"/>
          <p:nvPr/>
        </p:nvSpPr>
        <p:spPr>
          <a:xfrm>
            <a:off x="7452360" y="3840480"/>
            <a:ext cx="4389120" cy="1188720"/>
          </a:xfrm>
          <a:prstGeom prst="rect">
            <a:avLst/>
          </a:prstGeom>
          <a:noFill/>
        </p:spPr>
        <p:txBody>
          <a:bodyPr wrap="square" lIns="0" rIns="0" tIns="0" bIns="0"/>
          <a:lstStyle/>
          <a:p>
            <a:pPr algn="l">
              <a:spcBef>
                <a:spcPts val="0"/>
              </a:spcBef>
              <a:spcAft>
                <a:spcPts val="200"/>
              </a:spcAft>
            </a:pPr>
            <a:r>
              <a:rPr sz="1500" b="0">
                <a:solidFill>
                  <a:srgbClr val="1F3660"/>
                </a:solidFill>
                <a:latin typeface="Calibri"/>
              </a:rPr>
              <a:t>GMP 0.78 s</a:t>
            </a:r>
          </a:p>
          <a:p>
            <a:pPr algn="l">
              <a:spcBef>
                <a:spcPts val="0"/>
              </a:spcBef>
              <a:spcAft>
                <a:spcPts val="200"/>
              </a:spcAft>
            </a:pPr>
            <a:r>
              <a:rPr sz="1500" b="0">
                <a:solidFill>
                  <a:srgbClr val="1F3660"/>
                </a:solidFill>
                <a:latin typeface="Calibri"/>
              </a:rPr>
              <a:t>OpenAI 8.24 s</a:t>
            </a:r>
          </a:p>
          <a:p>
            <a:pPr algn="l">
              <a:spcBef>
                <a:spcPts val="0"/>
              </a:spcBef>
              <a:spcAft>
                <a:spcPts val="200"/>
              </a:spcAft>
            </a:pPr>
            <a:r>
              <a:rPr sz="1500" b="0">
                <a:solidFill>
                  <a:srgbClr val="1F3660"/>
                </a:solidFill>
                <a:latin typeface="Calibri"/>
              </a:rPr>
              <a:t>FFT 20.2 s</a:t>
            </a:r>
          </a:p>
          <a:p>
            <a:pPr algn="l">
              <a:spcBef>
                <a:spcPts val="0"/>
              </a:spcBef>
              <a:spcAft>
                <a:spcPts val="200"/>
              </a:spcAft>
            </a:pPr>
            <a:r>
              <a:rPr sz="1500" b="0">
                <a:solidFill>
                  <a:srgbClr val="1F3660"/>
                </a:solidFill>
                <a:latin typeface="Calibri"/>
              </a:rPr>
              <a:t>Karatsuba 41.4 s</a:t>
            </a:r>
          </a:p>
        </p:txBody>
      </p:sp>
      <p:sp>
        <p:nvSpPr>
          <p:cNvPr id="10" name="TextBox 9"/>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Above 2,048 limbs the FFT uses 8-bit digits, so its transform is about twice as long.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i9 grid: the FFT arrives late</a:t>
            </a:r>
          </a:p>
        </p:txBody>
      </p:sp>
      <p:sp>
        <p:nvSpPr>
          <p:cNvPr id="3" name="TextBox 2"/>
          <p:cNvSpPr txBox="1"/>
          <p:nvPr/>
        </p:nvSpPr>
        <p:spPr>
          <a:xfrm>
            <a:off x="566928" y="1051560"/>
            <a:ext cx="10972800" cy="502920"/>
          </a:xfrm>
          <a:prstGeom prst="rect">
            <a:avLst/>
          </a:prstGeom>
          <a:noFill/>
        </p:spPr>
        <p:txBody>
          <a:bodyPr wrap="square" lIns="0" rIns="0" tIns="0" bIns="0"/>
          <a:lstStyle/>
          <a:p>
            <a:pPr algn="l">
              <a:spcBef>
                <a:spcPts val="0"/>
              </a:spcBef>
              <a:spcAft>
                <a:spcPts val="200"/>
              </a:spcAft>
            </a:pPr>
            <a:r>
              <a:rPr sz="1800" b="0">
                <a:solidFill>
                  <a:srgbClr val="1F3660"/>
                </a:solidFill>
                <a:latin typeface="Calibri"/>
              </a:rPr>
              <a:t>i9, GMP 6.2.1. Times in milliseconds. Schoolbook is omitted once it is too slow to finish.</a:t>
            </a:r>
          </a:p>
        </p:txBody>
      </p:sp>
      <p:sp>
        <p:nvSpPr>
          <p:cNvPr id="4" name="Rectangle 3"/>
          <p:cNvSpPr/>
          <p:nvPr/>
        </p:nvSpPr>
        <p:spPr>
          <a:xfrm>
            <a:off x="566928" y="1737360"/>
            <a:ext cx="11064240" cy="640080"/>
          </a:xfrm>
          <a:prstGeom prst="rect">
            <a:avLst/>
          </a:prstGeom>
          <a:solidFill>
            <a:srgbClr val="1F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19"/>
            <a:ext cx="2560320" cy="365760"/>
          </a:xfrm>
          <a:prstGeom prst="rect">
            <a:avLst/>
          </a:prstGeom>
          <a:noFill/>
        </p:spPr>
        <p:txBody>
          <a:bodyPr wrap="square" lIns="0" rIns="0" tIns="0" bIns="0"/>
          <a:lstStyle/>
          <a:p>
            <a:pPr algn="l">
              <a:spcBef>
                <a:spcPts val="0"/>
              </a:spcBef>
              <a:spcAft>
                <a:spcPts val="200"/>
              </a:spcAft>
            </a:pPr>
            <a:r>
              <a:rPr sz="1800" b="1">
                <a:solidFill>
                  <a:srgbClr val="FFFFFF"/>
                </a:solidFill>
                <a:latin typeface="Calibri"/>
              </a:rPr>
              <a:t>limbs</a:t>
            </a:r>
          </a:p>
        </p:txBody>
      </p:sp>
      <p:sp>
        <p:nvSpPr>
          <p:cNvPr id="6" name="TextBox 5"/>
          <p:cNvSpPr txBox="1"/>
          <p:nvPr/>
        </p:nvSpPr>
        <p:spPr>
          <a:xfrm>
            <a:off x="3474720" y="1874519"/>
            <a:ext cx="2560320" cy="365760"/>
          </a:xfrm>
          <a:prstGeom prst="rect">
            <a:avLst/>
          </a:prstGeom>
          <a:noFill/>
        </p:spPr>
        <p:txBody>
          <a:bodyPr wrap="square" lIns="0" rIns="0" tIns="0" bIns="0"/>
          <a:lstStyle/>
          <a:p>
            <a:pPr algn="l">
              <a:spcBef>
                <a:spcPts val="0"/>
              </a:spcBef>
              <a:spcAft>
                <a:spcPts val="200"/>
              </a:spcAft>
            </a:pPr>
            <a:r>
              <a:rPr sz="1800" b="1">
                <a:solidFill>
                  <a:srgbClr val="FFFFFF"/>
                </a:solidFill>
                <a:latin typeface="Calibri"/>
              </a:rPr>
              <a:t>Karatsuba</a:t>
            </a:r>
          </a:p>
        </p:txBody>
      </p:sp>
      <p:sp>
        <p:nvSpPr>
          <p:cNvPr id="7" name="TextBox 6"/>
          <p:cNvSpPr txBox="1"/>
          <p:nvPr/>
        </p:nvSpPr>
        <p:spPr>
          <a:xfrm>
            <a:off x="6217920" y="1874519"/>
            <a:ext cx="2560320" cy="365760"/>
          </a:xfrm>
          <a:prstGeom prst="rect">
            <a:avLst/>
          </a:prstGeom>
          <a:noFill/>
        </p:spPr>
        <p:txBody>
          <a:bodyPr wrap="square" lIns="0" rIns="0" tIns="0" bIns="0"/>
          <a:lstStyle/>
          <a:p>
            <a:pPr algn="l">
              <a:spcBef>
                <a:spcPts val="0"/>
              </a:spcBef>
              <a:spcAft>
                <a:spcPts val="200"/>
              </a:spcAft>
            </a:pPr>
            <a:r>
              <a:rPr sz="1800" b="1">
                <a:solidFill>
                  <a:srgbClr val="FFFFFF"/>
                </a:solidFill>
                <a:latin typeface="Calibri"/>
              </a:rPr>
              <a:t>FFT</a:t>
            </a:r>
          </a:p>
        </p:txBody>
      </p:sp>
      <p:sp>
        <p:nvSpPr>
          <p:cNvPr id="8" name="TextBox 7"/>
          <p:cNvSpPr txBox="1"/>
          <p:nvPr/>
        </p:nvSpPr>
        <p:spPr>
          <a:xfrm>
            <a:off x="8961120" y="1874519"/>
            <a:ext cx="2560320" cy="365760"/>
          </a:xfrm>
          <a:prstGeom prst="rect">
            <a:avLst/>
          </a:prstGeom>
          <a:noFill/>
        </p:spPr>
        <p:txBody>
          <a:bodyPr wrap="square" lIns="0" rIns="0" tIns="0" bIns="0"/>
          <a:lstStyle/>
          <a:p>
            <a:pPr algn="l">
              <a:spcBef>
                <a:spcPts val="0"/>
              </a:spcBef>
              <a:spcAft>
                <a:spcPts val="200"/>
              </a:spcAft>
            </a:pPr>
            <a:r>
              <a:rPr sz="1800" b="1">
                <a:solidFill>
                  <a:srgbClr val="FFFFFF"/>
                </a:solidFill>
                <a:latin typeface="Calibri"/>
              </a:rPr>
              <a:t>GMP</a:t>
            </a:r>
          </a:p>
        </p:txBody>
      </p:sp>
      <p:sp>
        <p:nvSpPr>
          <p:cNvPr id="9" name="Rectangle 8"/>
          <p:cNvSpPr/>
          <p:nvPr/>
        </p:nvSpPr>
        <p:spPr>
          <a:xfrm>
            <a:off x="566928" y="2514600"/>
            <a:ext cx="11064240" cy="777240"/>
          </a:xfrm>
          <a:prstGeom prst="rect">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79192"/>
            <a:ext cx="2560320" cy="41148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32,768</a:t>
            </a:r>
          </a:p>
        </p:txBody>
      </p:sp>
      <p:sp>
        <p:nvSpPr>
          <p:cNvPr id="11" name="TextBox 10"/>
          <p:cNvSpPr txBox="1"/>
          <p:nvPr/>
        </p:nvSpPr>
        <p:spPr>
          <a:xfrm>
            <a:off x="3474720" y="267919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54.8</a:t>
            </a:r>
          </a:p>
        </p:txBody>
      </p:sp>
      <p:sp>
        <p:nvSpPr>
          <p:cNvPr id="12" name="TextBox 11"/>
          <p:cNvSpPr txBox="1"/>
          <p:nvPr/>
        </p:nvSpPr>
        <p:spPr>
          <a:xfrm>
            <a:off x="6217920" y="267919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63.7</a:t>
            </a:r>
          </a:p>
        </p:txBody>
      </p:sp>
      <p:sp>
        <p:nvSpPr>
          <p:cNvPr id="13" name="TextBox 12"/>
          <p:cNvSpPr txBox="1"/>
          <p:nvPr/>
        </p:nvSpPr>
        <p:spPr>
          <a:xfrm>
            <a:off x="8961120" y="267919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5.8</a:t>
            </a:r>
          </a:p>
        </p:txBody>
      </p:sp>
      <p:sp>
        <p:nvSpPr>
          <p:cNvPr id="14" name="Rectangle 13"/>
          <p:cNvSpPr/>
          <p:nvPr/>
        </p:nvSpPr>
        <p:spPr>
          <a:xfrm>
            <a:off x="566928" y="3383280"/>
            <a:ext cx="11064240" cy="777240"/>
          </a:xfrm>
          <a:prstGeom prst="rect">
            <a:avLst/>
          </a:prstGeom>
          <a:solidFill>
            <a:srgbClr val="FD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47872"/>
            <a:ext cx="2560320" cy="41148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65,536</a:t>
            </a:r>
          </a:p>
        </p:txBody>
      </p:sp>
      <p:sp>
        <p:nvSpPr>
          <p:cNvPr id="16" name="TextBox 15"/>
          <p:cNvSpPr txBox="1"/>
          <p:nvPr/>
        </p:nvSpPr>
        <p:spPr>
          <a:xfrm>
            <a:off x="3474720" y="354787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163</a:t>
            </a:r>
          </a:p>
        </p:txBody>
      </p:sp>
      <p:sp>
        <p:nvSpPr>
          <p:cNvPr id="17" name="TextBox 16"/>
          <p:cNvSpPr txBox="1"/>
          <p:nvPr/>
        </p:nvSpPr>
        <p:spPr>
          <a:xfrm>
            <a:off x="6217920" y="354787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172</a:t>
            </a:r>
          </a:p>
        </p:txBody>
      </p:sp>
      <p:sp>
        <p:nvSpPr>
          <p:cNvPr id="18" name="TextBox 17"/>
          <p:cNvSpPr txBox="1"/>
          <p:nvPr/>
        </p:nvSpPr>
        <p:spPr>
          <a:xfrm>
            <a:off x="8961120" y="354787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13.9</a:t>
            </a:r>
          </a:p>
        </p:txBody>
      </p:sp>
      <p:sp>
        <p:nvSpPr>
          <p:cNvPr id="19" name="Rectangle 18"/>
          <p:cNvSpPr/>
          <p:nvPr/>
        </p:nvSpPr>
        <p:spPr>
          <a:xfrm>
            <a:off x="566928" y="4251960"/>
            <a:ext cx="11064240" cy="777240"/>
          </a:xfrm>
          <a:prstGeom prst="rect">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16552"/>
            <a:ext cx="2560320" cy="411480"/>
          </a:xfrm>
          <a:prstGeom prst="rect">
            <a:avLst/>
          </a:prstGeom>
          <a:noFill/>
        </p:spPr>
        <p:txBody>
          <a:bodyPr wrap="square" lIns="0" rIns="0" tIns="0" bIns="0"/>
          <a:lstStyle/>
          <a:p>
            <a:pPr algn="l">
              <a:spcBef>
                <a:spcPts val="0"/>
              </a:spcBef>
              <a:spcAft>
                <a:spcPts val="200"/>
              </a:spcAft>
            </a:pPr>
            <a:r>
              <a:rPr sz="2200" b="1">
                <a:solidFill>
                  <a:srgbClr val="1F3660"/>
                </a:solidFill>
                <a:latin typeface="Calibri"/>
              </a:rPr>
              <a:t>131,072</a:t>
            </a:r>
          </a:p>
        </p:txBody>
      </p:sp>
      <p:sp>
        <p:nvSpPr>
          <p:cNvPr id="21" name="TextBox 20"/>
          <p:cNvSpPr txBox="1"/>
          <p:nvPr/>
        </p:nvSpPr>
        <p:spPr>
          <a:xfrm>
            <a:off x="3474720" y="441655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501</a:t>
            </a:r>
          </a:p>
        </p:txBody>
      </p:sp>
      <p:sp>
        <p:nvSpPr>
          <p:cNvPr id="22" name="TextBox 21"/>
          <p:cNvSpPr txBox="1"/>
          <p:nvPr/>
        </p:nvSpPr>
        <p:spPr>
          <a:xfrm>
            <a:off x="6217920" y="4416552"/>
            <a:ext cx="2560320" cy="411480"/>
          </a:xfrm>
          <a:prstGeom prst="rect">
            <a:avLst/>
          </a:prstGeom>
          <a:noFill/>
        </p:spPr>
        <p:txBody>
          <a:bodyPr wrap="square" lIns="0" rIns="0" tIns="0" bIns="0"/>
          <a:lstStyle/>
          <a:p>
            <a:pPr algn="l">
              <a:spcBef>
                <a:spcPts val="0"/>
              </a:spcBef>
              <a:spcAft>
                <a:spcPts val="200"/>
              </a:spcAft>
            </a:pPr>
            <a:r>
              <a:rPr sz="2200" b="0">
                <a:solidFill>
                  <a:srgbClr val="247A48"/>
                </a:solidFill>
                <a:latin typeface="Calibri"/>
              </a:rPr>
              <a:t>481</a:t>
            </a:r>
          </a:p>
        </p:txBody>
      </p:sp>
      <p:sp>
        <p:nvSpPr>
          <p:cNvPr id="23" name="TextBox 22"/>
          <p:cNvSpPr txBox="1"/>
          <p:nvPr/>
        </p:nvSpPr>
        <p:spPr>
          <a:xfrm>
            <a:off x="8961120" y="4416552"/>
            <a:ext cx="2560320" cy="411480"/>
          </a:xfrm>
          <a:prstGeom prst="rect">
            <a:avLst/>
          </a:prstGeom>
          <a:noFill/>
        </p:spPr>
        <p:txBody>
          <a:bodyPr wrap="square" lIns="0" rIns="0" tIns="0" bIns="0"/>
          <a:lstStyle/>
          <a:p>
            <a:pPr algn="l">
              <a:spcBef>
                <a:spcPts val="0"/>
              </a:spcBef>
              <a:spcAft>
                <a:spcPts val="200"/>
              </a:spcAft>
            </a:pPr>
            <a:r>
              <a:rPr sz="2200" b="0">
                <a:solidFill>
                  <a:srgbClr val="1F3660"/>
                </a:solidFill>
                <a:latin typeface="Calibri"/>
              </a:rPr>
              <a:t>30.6</a:t>
            </a:r>
          </a:p>
        </p:txBody>
      </p:sp>
      <p:sp>
        <p:nvSpPr>
          <p:cNvPr id="24" name="TextBox 23"/>
          <p:cNvSpPr txBox="1"/>
          <p:nvPr/>
        </p:nvSpPr>
        <p:spPr>
          <a:xfrm>
            <a:off x="566928" y="6355080"/>
            <a:ext cx="11064240" cy="347472"/>
          </a:xfrm>
          <a:prstGeom prst="rect">
            <a:avLst/>
          </a:prstGeom>
          <a:noFill/>
        </p:spPr>
        <p:txBody>
          <a:bodyPr wrap="square" lIns="0" rIns="0" tIns="0" bIns="0"/>
          <a:lstStyle/>
          <a:p>
            <a:pPr algn="l">
              <a:spcBef>
                <a:spcPts val="0"/>
              </a:spcBef>
              <a:spcAft>
                <a:spcPts val="200"/>
              </a:spcAft>
            </a:pPr>
            <a:r>
              <a:rPr sz="1400" b="0">
                <a:solidFill>
                  <a:srgbClr val="5A687C"/>
                </a:solidFill>
                <a:latin typeface="Calibri"/>
              </a:rPr>
              <a:t>The FFT is still behind Karatsuba at 32,768 limbs. At 131,072 it is slightly ahead. GMP wins every row.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we expected, and what happened</a:t>
            </a:r>
          </a:p>
        </p:txBody>
      </p:sp>
      <p:sp>
        <p:nvSpPr>
          <p:cNvPr id="3" name="Rounded Rectangle 2"/>
          <p:cNvSpPr/>
          <p:nvPr/>
        </p:nvSpPr>
        <p:spPr>
          <a:xfrm>
            <a:off x="566928" y="1143000"/>
            <a:ext cx="5486400" cy="475488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289304"/>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Ryzen run</a:t>
            </a:r>
          </a:p>
        </p:txBody>
      </p:sp>
      <p:sp>
        <p:nvSpPr>
          <p:cNvPr id="5" name="TextBox 4"/>
          <p:cNvSpPr txBox="1"/>
          <p:nvPr/>
        </p:nvSpPr>
        <p:spPr>
          <a:xfrm>
            <a:off x="768096" y="1709928"/>
            <a:ext cx="5120640" cy="40416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Schoolbook still won at 2,048 limbs. I had expected to pass it by 1,024.</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 FFT stayed ahead through 8,192. At 16,384 I am slightly ahead, and the 8-bit transform keeps that lead.</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I pass Karatsuba at 131,072. The FFT passes it at 524,288, later than on the i9 grid.</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GMP looked catchable on the early graph. Past 32,768 it grows like mine, and the gap stays about 11 times.</a:t>
            </a:r>
          </a:p>
        </p:txBody>
      </p:sp>
      <p:sp>
        <p:nvSpPr>
          <p:cNvPr id="6" name="Rounded Rectangle 5"/>
          <p:cNvSpPr/>
          <p:nvPr/>
        </p:nvSpPr>
        <p:spPr>
          <a:xfrm>
            <a:off x="6263640" y="1143000"/>
            <a:ext cx="5486400" cy="475488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7" y="1289304"/>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i9 run</a:t>
            </a:r>
          </a:p>
        </p:txBody>
      </p:sp>
      <p:sp>
        <p:nvSpPr>
          <p:cNvPr id="8" name="TextBox 7"/>
          <p:cNvSpPr txBox="1"/>
          <p:nvPr/>
        </p:nvSpPr>
        <p:spPr>
          <a:xfrm>
            <a:off x="6464807" y="1709928"/>
            <a:ext cx="5120640" cy="4041648"/>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I expected the FFT to pass Karatsuba inside the sizes we cared about.</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It was still behind at 32,768 limbs.</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At 65,536 and 131,072 the repeats overlap, and only the last row flips.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DFD"/>
        </a:solidFill>
        <a:effectLst/>
      </p:bgPr>
    </p:bg>
    <p:spTree>
      <p:nvGrpSpPr>
        <p:cNvPr id="1" name=""/>
        <p:cNvGrpSpPr/>
        <p:nvPr/>
      </p:nvGrpSpPr>
      <p:grpSpPr/>
      <p:sp>
        <p:nvSpPr>
          <p:cNvPr id="2" name="TextBox 1"/>
          <p:cNvSpPr txBox="1"/>
          <p:nvPr/>
        </p:nvSpPr>
        <p:spPr>
          <a:xfrm>
            <a:off x="566928" y="256032"/>
            <a:ext cx="11064240" cy="640080"/>
          </a:xfrm>
          <a:prstGeom prst="rect">
            <a:avLst/>
          </a:prstGeom>
          <a:noFill/>
        </p:spPr>
        <p:txBody>
          <a:bodyPr wrap="square" lIns="0" rIns="0" tIns="0" bIns="0"/>
          <a:lstStyle/>
          <a:p>
            <a:pPr algn="l">
              <a:spcBef>
                <a:spcPts val="0"/>
              </a:spcBef>
              <a:spcAft>
                <a:spcPts val="200"/>
              </a:spcAft>
            </a:pPr>
            <a:r>
              <a:rPr sz="3400" b="1">
                <a:solidFill>
                  <a:srgbClr val="1F3660"/>
                </a:solidFill>
                <a:latin typeface="Calibri"/>
              </a:rPr>
              <a:t>What we would do next</a:t>
            </a:r>
          </a:p>
        </p:txBody>
      </p:sp>
      <p:sp>
        <p:nvSpPr>
          <p:cNvPr id="3" name="Rounded Rectangle 2"/>
          <p:cNvSpPr/>
          <p:nvPr/>
        </p:nvSpPr>
        <p:spPr>
          <a:xfrm>
            <a:off x="566928" y="1280160"/>
            <a:ext cx="5486400" cy="438912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1426463"/>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OpenAI file</a:t>
            </a:r>
          </a:p>
        </p:txBody>
      </p:sp>
      <p:sp>
        <p:nvSpPr>
          <p:cNvPr id="5" name="TextBox 4"/>
          <p:cNvSpPr txBox="1"/>
          <p:nvPr/>
        </p:nvSpPr>
        <p:spPr>
          <a:xfrm>
            <a:off x="768096" y="1847088"/>
            <a:ext cx="5120640" cy="367588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Build the twiddle powers in setup, outside the timer.</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They are recomputed on every call today.</a:t>
            </a:r>
          </a:p>
        </p:txBody>
      </p:sp>
      <p:sp>
        <p:nvSpPr>
          <p:cNvPr id="6" name="Rounded Rectangle 5"/>
          <p:cNvSpPr/>
          <p:nvPr/>
        </p:nvSpPr>
        <p:spPr>
          <a:xfrm>
            <a:off x="6263640" y="1280160"/>
            <a:ext cx="5486400" cy="4389120"/>
          </a:xfrm>
          <a:prstGeom prst="roundRect">
            <a:avLst>
              <a:gd name="adj" fmla="val 10000"/>
            </a:avLst>
          </a:prstGeom>
          <a:solidFill>
            <a:srgbClr val="ECF0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7" y="1426463"/>
            <a:ext cx="5120640" cy="384048"/>
          </a:xfrm>
          <a:prstGeom prst="rect">
            <a:avLst/>
          </a:prstGeom>
          <a:noFill/>
        </p:spPr>
        <p:txBody>
          <a:bodyPr wrap="square" lIns="0" rIns="0" tIns="0" bIns="0"/>
          <a:lstStyle/>
          <a:p>
            <a:pPr algn="l">
              <a:spcBef>
                <a:spcPts val="0"/>
              </a:spcBef>
              <a:spcAft>
                <a:spcPts val="200"/>
              </a:spcAft>
            </a:pPr>
            <a:r>
              <a:rPr sz="1800" b="1">
                <a:solidFill>
                  <a:srgbClr val="1F3660"/>
                </a:solidFill>
                <a:latin typeface="Calibri"/>
              </a:rPr>
              <a:t>Catching GMP</a:t>
            </a:r>
          </a:p>
        </p:txBody>
      </p:sp>
      <p:sp>
        <p:nvSpPr>
          <p:cNvPr id="8" name="TextBox 7"/>
          <p:cNvSpPr txBox="1"/>
          <p:nvPr/>
        </p:nvSpPr>
        <p:spPr>
          <a:xfrm>
            <a:off x="6464807" y="1847088"/>
            <a:ext cx="5120640" cy="3675887"/>
          </a:xfrm>
          <a:prstGeom prst="rect">
            <a:avLst/>
          </a:prstGeom>
          <a:noFill/>
        </p:spPr>
        <p:txBody>
          <a:bodyPr wrap="square" lIns="0" rIns="0" tIns="0" bIns="0"/>
          <a:lstStyle/>
          <a:p>
            <a:pPr algn="l">
              <a:spcBef>
                <a:spcPts val="0"/>
              </a:spcBef>
              <a:spcAft>
                <a:spcPts val="200"/>
              </a:spcAft>
            </a:pPr>
            <a:r>
              <a:rPr sz="1600" b="0">
                <a:solidFill>
                  <a:srgbClr val="1F3660"/>
                </a:solidFill>
                <a:latin typeface="Calibri"/>
              </a:rPr>
              <a:t>Running out to 2,097,152 limbs did not do it.</a:t>
            </a:r>
          </a:p>
          <a:p>
            <a:pPr algn="l">
              <a:spcBef>
                <a:spcPts val="0"/>
              </a:spcBef>
              <a:spcAft>
                <a:spcPts val="200"/>
              </a:spcAft>
            </a:pPr>
            <a:r>
              <a:rPr sz="1600" b="0">
                <a:solidFill>
                  <a:srgbClr val="1F3660"/>
                </a:solidFill>
                <a:latin typeface="Calibri"/>
              </a:rPr>
              <a:t/>
            </a:r>
          </a:p>
          <a:p>
            <a:pPr algn="l">
              <a:spcBef>
                <a:spcPts val="0"/>
              </a:spcBef>
              <a:spcAft>
                <a:spcPts val="200"/>
              </a:spcAft>
            </a:pPr>
            <a:r>
              <a:rPr sz="1600" b="0">
                <a:solidFill>
                  <a:srgbClr val="1F3660"/>
                </a:solidFill>
                <a:latin typeface="Calibri"/>
              </a:rPr>
              <a:t>GMP is still about 11 times faster, and the FFT is about twice mine.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Integer multiplication</dc:title>
  <dc:subject/>
  <dc:creator>baileytucker1259</dc:creator>
  <cp:keywords/>
  <dc:description>generated using python-pptx</dc:description>
  <cp:lastModifiedBy>baileytucker1259</cp:lastModifiedBy>
  <cp:revision>1</cp:revision>
  <dcterms:created xsi:type="dcterms:W3CDTF">2013-01-27T09:14:16Z</dcterms:created>
  <dcterms:modified xsi:type="dcterms:W3CDTF">2013-01-27T09:15:58Z</dcterms:modified>
  <cp:category/>
</cp:coreProperties>
</file>